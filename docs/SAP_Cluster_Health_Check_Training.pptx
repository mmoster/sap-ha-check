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6.xml"/>
  <Override ContentType="application/vnd.openxmlformats-officedocument.presentationml.slide+xml" PartName="/ppt/slides/slide25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</p:sldMasterIdLst>
  <p:notesMasterIdLst>
    <p:notesMasterId r:id="rId5"/>
  </p:notesMasterIdLst>
  <p:sldIdLst>
    <p:sldId id="256" r:id="rId6"/>
    <p:sldId id="257" r:id="rId7"/>
    <p:sldId id="258" r:id="rId64"/>
    <p:sldId id="259" r:id="rId65"/>
    <p:sldId id="260" r:id="rId66"/>
    <p:sldId id="261" r:id="rId67"/>
    <p:sldId id="262" r:id="rId68"/>
    <p:sldId id="263" r:id="rId69"/>
    <p:sldId id="264" r:id="rId70"/>
    <p:sldId id="265" r:id="rId71"/>
    <p:sldId id="266" r:id="rId72"/>
    <p:sldId id="267" r:id="rId73"/>
    <p:sldId id="268" r:id="rId74"/>
    <p:sldId id="269" r:id="rId75"/>
    <p:sldId id="270" r:id="rId76"/>
    <p:sldId id="271" r:id="rId77"/>
    <p:sldId id="272" r:id="rId78"/>
    <p:sldId id="273" r:id="rId79"/>
    <p:sldId id="274" r:id="rId80"/>
    <p:sldId id="275" r:id="rId81"/>
    <p:sldId id="276" r:id="rId82"/>
    <p:sldId id="277" r:id="rId83"/>
    <p:sldId id="278" r:id="rId84"/>
    <p:sldId id="279" r:id="rId85"/>
    <p:sldId id="280" r:id="rId30"/>
    <p:sldId id="281" r:id="rId31"/>
  </p:sldIdLst>
  <p:sldSz cy="6858000" cx="12192000"/>
  <p:notesSz cx="6858000" cy="9144000"/>
  <p:embeddedFontLst>
    <p:embeddedFont>
      <p:font typeface="Red Hat Text Medium"/>
      <p:regular r:id="rId32"/>
      <p:bold r:id="rId33"/>
      <p:italic r:id="rId34"/>
      <p:boldItalic r:id="rId35"/>
    </p:embeddedFont>
    <p:embeddedFont>
      <p:font typeface="Roboto"/>
      <p:regular r:id="rId36"/>
      <p:bold r:id="rId37"/>
      <p:italic r:id="rId38"/>
      <p:boldItalic r:id="rId39"/>
    </p:embeddedFont>
    <p:embeddedFont>
      <p:font typeface="Overpass"/>
      <p:regular r:id="rId40"/>
      <p:bold r:id="rId41"/>
      <p:italic r:id="rId42"/>
      <p:boldItalic r:id="rId43"/>
    </p:embeddedFont>
    <p:embeddedFont>
      <p:font typeface="Red Hat Display Medium"/>
      <p:regular r:id="rId44"/>
      <p:bold r:id="rId45"/>
      <p:italic r:id="rId46"/>
      <p:boldItalic r:id="rId47"/>
    </p:embeddedFont>
    <p:embeddedFont>
      <p:font typeface="Overpass Light"/>
      <p:regular r:id="rId48"/>
      <p:bold r:id="rId49"/>
      <p:italic r:id="rId50"/>
      <p:boldItalic r:id="rId51"/>
    </p:embeddedFont>
    <p:embeddedFont>
      <p:font typeface="Red Hat Display"/>
      <p:regular r:id="rId52"/>
      <p:bold r:id="rId53"/>
      <p:italic r:id="rId54"/>
      <p:boldItalic r:id="rId55"/>
    </p:embeddedFont>
    <p:embeddedFont>
      <p:font typeface="Overpass SemiBold"/>
      <p:regular r:id="rId56"/>
      <p:bold r:id="rId57"/>
      <p:italic r:id="rId58"/>
      <p:boldItalic r:id="rId59"/>
    </p:embeddedFont>
    <p:embeddedFont>
      <p:font typeface="Red Hat Text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?><Relationships xmlns="http://schemas.openxmlformats.org/package/2006/relationships"><Relationship Id="rId40" Type="http://schemas.openxmlformats.org/officeDocument/2006/relationships/font" Target="fonts/Overpass-regular.fntdata"/><Relationship Id="rId42" Type="http://schemas.openxmlformats.org/officeDocument/2006/relationships/font" Target="fonts/Overpass-italic.fntdata"/><Relationship Id="rId41" Type="http://schemas.openxmlformats.org/officeDocument/2006/relationships/font" Target="fonts/Overpass-bold.fntdata"/><Relationship Id="rId44" Type="http://schemas.openxmlformats.org/officeDocument/2006/relationships/font" Target="fonts/RedHatDisplayMedium-regular.fntdata"/><Relationship Id="rId43" Type="http://schemas.openxmlformats.org/officeDocument/2006/relationships/font" Target="fonts/Overpass-boldItalic.fntdata"/><Relationship Id="rId46" Type="http://schemas.openxmlformats.org/officeDocument/2006/relationships/font" Target="fonts/RedHatDisplayMedium-italic.fntdata"/><Relationship Id="rId45" Type="http://schemas.openxmlformats.org/officeDocument/2006/relationships/font" Target="fonts/RedHatDisplay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48" Type="http://schemas.openxmlformats.org/officeDocument/2006/relationships/font" Target="fonts/OverpassLight-regular.fntdata"/><Relationship Id="rId47" Type="http://schemas.openxmlformats.org/officeDocument/2006/relationships/font" Target="fonts/RedHatDisplayMedium-boldItalic.fntdata"/><Relationship Id="rId49" Type="http://schemas.openxmlformats.org/officeDocument/2006/relationships/font" Target="fonts/OverpassLigh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font" Target="fonts/RedHatTextMedium-bold.fntdata"/><Relationship Id="rId32" Type="http://schemas.openxmlformats.org/officeDocument/2006/relationships/font" Target="fonts/RedHatTextMedium-regular.fntdata"/><Relationship Id="rId35" Type="http://schemas.openxmlformats.org/officeDocument/2006/relationships/font" Target="fonts/RedHatTextMedium-boldItalic.fntdata"/><Relationship Id="rId34" Type="http://schemas.openxmlformats.org/officeDocument/2006/relationships/font" Target="fonts/RedHatTextMedium-italic.fntdata"/><Relationship Id="rId37" Type="http://schemas.openxmlformats.org/officeDocument/2006/relationships/font" Target="fonts/Roboto-bold.fntdata"/><Relationship Id="rId36" Type="http://schemas.openxmlformats.org/officeDocument/2006/relationships/font" Target="fonts/Roboto-regular.fntdata"/><Relationship Id="rId39" Type="http://schemas.openxmlformats.org/officeDocument/2006/relationships/font" Target="fonts/Roboto-boldItalic.fntdata"/><Relationship Id="rId38" Type="http://schemas.openxmlformats.org/officeDocument/2006/relationships/font" Target="fonts/Roboto-italic.fntdata"/><Relationship Id="rId62" Type="http://schemas.openxmlformats.org/officeDocument/2006/relationships/font" Target="fonts/RedHatText-italic.fntdata"/><Relationship Id="rId61" Type="http://schemas.openxmlformats.org/officeDocument/2006/relationships/font" Target="fonts/RedHatText-bold.fntdata"/><Relationship Id="rId63" Type="http://schemas.openxmlformats.org/officeDocument/2006/relationships/font" Target="fonts/RedHatText-boldItalic.fntdata"/><Relationship Id="rId60" Type="http://schemas.openxmlformats.org/officeDocument/2006/relationships/font" Target="fonts/RedHatText-regular.fntdata"/><Relationship Id="rId51" Type="http://schemas.openxmlformats.org/officeDocument/2006/relationships/font" Target="fonts/OverpassLight-boldItalic.fntdata"/><Relationship Id="rId50" Type="http://schemas.openxmlformats.org/officeDocument/2006/relationships/font" Target="fonts/OverpassLight-italic.fntdata"/><Relationship Id="rId53" Type="http://schemas.openxmlformats.org/officeDocument/2006/relationships/font" Target="fonts/RedHatDisplay-bold.fntdata"/><Relationship Id="rId52" Type="http://schemas.openxmlformats.org/officeDocument/2006/relationships/font" Target="fonts/RedHatDisplay-regular.fntdata"/><Relationship Id="rId55" Type="http://schemas.openxmlformats.org/officeDocument/2006/relationships/font" Target="fonts/RedHatDisplay-boldItalic.fntdata"/><Relationship Id="rId54" Type="http://schemas.openxmlformats.org/officeDocument/2006/relationships/font" Target="fonts/RedHatDisplay-italic.fntdata"/><Relationship Id="rId57" Type="http://schemas.openxmlformats.org/officeDocument/2006/relationships/font" Target="fonts/OverpassSemiBold-bold.fntdata"/><Relationship Id="rId56" Type="http://schemas.openxmlformats.org/officeDocument/2006/relationships/font" Target="fonts/OverpassSemiBold-regular.fntdata"/><Relationship Id="rId59" Type="http://schemas.openxmlformats.org/officeDocument/2006/relationships/font" Target="fonts/OverpassSemiBold-boldItalic.fntdata"/><Relationship Id="rId58" Type="http://schemas.openxmlformats.org/officeDocument/2006/relationships/font" Target="fonts/OverpassSemiBold-italic.fntdata"/><Relationship Id="rId64" Type="http://schemas.openxmlformats.org/officeDocument/2006/relationships/slide" Target="slides/slide27.xml"/><Relationship Id="rId65" Type="http://schemas.openxmlformats.org/officeDocument/2006/relationships/slide" Target="slides/slide28.xml"/><Relationship Id="rId66" Type="http://schemas.openxmlformats.org/officeDocument/2006/relationships/slide" Target="slides/slide29.xml"/><Relationship Id="rId67" Type="http://schemas.openxmlformats.org/officeDocument/2006/relationships/slide" Target="slides/slide30.xml"/><Relationship Id="rId68" Type="http://schemas.openxmlformats.org/officeDocument/2006/relationships/slide" Target="slides/slide31.xml"/><Relationship Id="rId69" Type="http://schemas.openxmlformats.org/officeDocument/2006/relationships/slide" Target="slides/slide32.xml"/><Relationship Id="rId70" Type="http://schemas.openxmlformats.org/officeDocument/2006/relationships/slide" Target="slides/slide33.xml"/><Relationship Id="rId71" Type="http://schemas.openxmlformats.org/officeDocument/2006/relationships/slide" Target="slides/slide34.xml"/><Relationship Id="rId72" Type="http://schemas.openxmlformats.org/officeDocument/2006/relationships/slide" Target="slides/slide35.xml"/><Relationship Id="rId73" Type="http://schemas.openxmlformats.org/officeDocument/2006/relationships/slide" Target="slides/slide36.xml"/><Relationship Id="rId74" Type="http://schemas.openxmlformats.org/officeDocument/2006/relationships/slide" Target="slides/slide37.xml"/><Relationship Id="rId75" Type="http://schemas.openxmlformats.org/officeDocument/2006/relationships/slide" Target="slides/slide38.xml"/><Relationship Id="rId76" Type="http://schemas.openxmlformats.org/officeDocument/2006/relationships/slide" Target="slides/slide39.xml"/><Relationship Id="rId77" Type="http://schemas.openxmlformats.org/officeDocument/2006/relationships/slide" Target="slides/slide40.xml"/><Relationship Id="rId78" Type="http://schemas.openxmlformats.org/officeDocument/2006/relationships/slide" Target="slides/slide41.xml"/><Relationship Id="rId79" Type="http://schemas.openxmlformats.org/officeDocument/2006/relationships/slide" Target="slides/slide42.xml"/><Relationship Id="rId80" Type="http://schemas.openxmlformats.org/officeDocument/2006/relationships/slide" Target="slides/slide43.xml"/><Relationship Id="rId81" Type="http://schemas.openxmlformats.org/officeDocument/2006/relationships/slide" Target="slides/slide44.xml"/><Relationship Id="rId82" Type="http://schemas.openxmlformats.org/officeDocument/2006/relationships/slide" Target="slides/slide45.xml"/><Relationship Id="rId83" Type="http://schemas.openxmlformats.org/officeDocument/2006/relationships/slide" Target="slides/slide46.xml"/><Relationship Id="rId84" Type="http://schemas.openxmlformats.org/officeDocument/2006/relationships/slide" Target="slides/slide47.xml"/><Relationship Id="rId85" Type="http://schemas.openxmlformats.org/officeDocument/2006/relationships/slide" Target="slides/slide48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547716335e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547716335e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 speaker if applicable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56ee207d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56ee207d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Marina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d1f7ff580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d1f7ff580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547716335e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547716335e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5.png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4.png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5.png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1.png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5.png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14.png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15.png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14.png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14.png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14.png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15.png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red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/>
        </p:nvSpPr>
        <p:spPr>
          <a:xfrm>
            <a:off x="10068030" y="269836"/>
            <a:ext cx="1619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 xml:space="preserve">CONFIDENTIAL </a:t>
            </a:r>
            <a:r>
              <a:rPr lang="en" sz="6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Designator</a:t>
            </a:r>
            <a:endParaRPr sz="600">
              <a:solidFill>
                <a:schemeClr val="lt1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11" name="Google Shape;11;p2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2pPr>
            <a:lvl3pPr lvl="2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3pPr>
            <a:lvl4pPr lvl="3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4pPr>
            <a:lvl5pPr lvl="4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5pPr>
            <a:lvl6pPr lvl="5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6pPr>
            <a:lvl7pPr lvl="6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7pPr>
            <a:lvl8pPr lvl="7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8pPr>
            <a:lvl9pPr lvl="8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2083725" y="46817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3" type="subTitle"/>
          </p:nvPr>
        </p:nvSpPr>
        <p:spPr>
          <a:xfrm>
            <a:off x="4471850" y="46817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Google Shape;15;p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red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083725" y="3008425"/>
            <a:ext cx="41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/>
        </p:nvSpPr>
        <p:spPr>
          <a:xfrm>
            <a:off x="10068030" y="269836"/>
            <a:ext cx="1619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 xml:space="preserve">CONFIDENTIAL </a:t>
            </a:r>
            <a:r>
              <a:rPr lang="en" sz="6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Designator</a:t>
            </a:r>
            <a:endParaRPr sz="600">
              <a:solidFill>
                <a:schemeClr val="lt1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20" name="Google Shape;20;p3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2pPr>
            <a:lvl3pPr lvl="2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3pPr>
            <a:lvl4pPr lvl="3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4pPr>
            <a:lvl5pPr lvl="4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5pPr>
            <a:lvl6pPr lvl="5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6pPr>
            <a:lvl7pPr lvl="6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7pPr>
            <a:lvl8pPr lvl="7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8pPr>
            <a:lvl9pPr lvl="8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1" name="Google Shape;2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79804" y="3535984"/>
            <a:ext cx="455950" cy="45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79804" y="2767909"/>
            <a:ext cx="455950" cy="45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79804" y="1999834"/>
            <a:ext cx="455950" cy="45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79804" y="4304059"/>
            <a:ext cx="455950" cy="455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linkedin.com/company/red-hat</a:t>
            </a:r>
            <a:endParaRPr>
              <a:solidFill>
                <a:schemeClr val="lt1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27" name="Google Shape;27;p3"/>
          <p:cNvSpPr txBox="1"/>
          <p:nvPr/>
        </p:nvSpPr>
        <p:spPr>
          <a:xfrm>
            <a:off x="7960472" y="27678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youtube.com/user/RedHatVideos</a:t>
            </a:r>
            <a:endParaRPr>
              <a:solidFill>
                <a:schemeClr val="lt1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7960472" y="35359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facebook.com/redhatinc</a:t>
            </a:r>
            <a:endParaRPr>
              <a:solidFill>
                <a:schemeClr val="lt1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29" name="Google Shape;29;p3"/>
          <p:cNvSpPr txBox="1"/>
          <p:nvPr/>
        </p:nvSpPr>
        <p:spPr>
          <a:xfrm>
            <a:off x="7960472" y="43039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twitter.com/RedHat</a:t>
            </a:r>
            <a:endParaRPr>
              <a:solidFill>
                <a:schemeClr val="lt1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cxnSp>
        <p:nvCxnSpPr>
          <p:cNvPr id="30" name="Google Shape;30;p3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" name="Google Shape;31;p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black">
  <p:cSld name="TITLE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2400"/>
              <a:buNone/>
              <a:defRPr sz="2400">
                <a:solidFill>
                  <a:srgbClr val="EBEBEB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2400"/>
              <a:buNone/>
              <a:defRPr sz="2400">
                <a:solidFill>
                  <a:srgbClr val="EBEBEB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2400"/>
              <a:buNone/>
              <a:defRPr sz="2400">
                <a:solidFill>
                  <a:srgbClr val="EBEBEB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2400"/>
              <a:buNone/>
              <a:defRPr sz="2400">
                <a:solidFill>
                  <a:srgbClr val="EBEBEB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2400"/>
              <a:buNone/>
              <a:defRPr sz="2400">
                <a:solidFill>
                  <a:srgbClr val="EBEBEB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2400"/>
              <a:buNone/>
              <a:defRPr sz="2400">
                <a:solidFill>
                  <a:srgbClr val="EBEBEB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2400"/>
              <a:buNone/>
              <a:defRPr sz="2400">
                <a:solidFill>
                  <a:srgbClr val="EBEBEB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2400"/>
              <a:buNone/>
              <a:defRPr sz="2400">
                <a:solidFill>
                  <a:srgbClr val="EBEBEB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2400"/>
              <a:buNone/>
              <a:defRPr sz="2400">
                <a:solidFill>
                  <a:srgbClr val="EBEBEB"/>
                </a:solidFill>
              </a:defRPr>
            </a:lvl9pPr>
          </a:lstStyle>
          <a:p/>
        </p:txBody>
      </p:sp>
      <p:sp>
        <p:nvSpPr>
          <p:cNvPr id="35" name="Google Shape;35;p4"/>
          <p:cNvSpPr txBox="1"/>
          <p:nvPr/>
        </p:nvSpPr>
        <p:spPr>
          <a:xfrm>
            <a:off x="10068030" y="269836"/>
            <a:ext cx="1619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EBEBEB"/>
                </a:solidFill>
                <a:latin typeface="Overpass"/>
                <a:ea typeface="Overpass"/>
                <a:cs typeface="Overpass"/>
                <a:sym typeface="Overpass"/>
              </a:rPr>
              <a:t xml:space="preserve">CONFIDENTIAL </a:t>
            </a:r>
            <a:r>
              <a:rPr lang="en" sz="600">
                <a:solidFill>
                  <a:srgbClr val="EBEBEB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Designator</a:t>
            </a:r>
            <a:endParaRPr sz="600">
              <a:solidFill>
                <a:srgbClr val="EBEBEB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36" name="Google Shape;36;p4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EBEBEB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EBEBEB"/>
                </a:solidFill>
              </a:defRPr>
            </a:lvl2pPr>
            <a:lvl3pPr lvl="2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EBEBEB"/>
                </a:solidFill>
              </a:defRPr>
            </a:lvl3pPr>
            <a:lvl4pPr lvl="3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EBEBEB"/>
                </a:solidFill>
              </a:defRPr>
            </a:lvl4pPr>
            <a:lvl5pPr lvl="4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EBEBEB"/>
                </a:solidFill>
              </a:defRPr>
            </a:lvl5pPr>
            <a:lvl6pPr lvl="5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EBEBEB"/>
                </a:solidFill>
              </a:defRPr>
            </a:lvl6pPr>
            <a:lvl7pPr lvl="6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EBEBEB"/>
                </a:solidFill>
              </a:defRPr>
            </a:lvl7pPr>
            <a:lvl8pPr lvl="7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EBEBEB"/>
                </a:solidFill>
              </a:defRPr>
            </a:lvl8pPr>
            <a:lvl9pPr lvl="8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EBEBEB"/>
                </a:solidFill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2" type="subTitle"/>
          </p:nvPr>
        </p:nvSpPr>
        <p:spPr>
          <a:xfrm>
            <a:off x="2083725" y="46817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200"/>
              <a:buNone/>
              <a:defRPr sz="1200">
                <a:solidFill>
                  <a:srgbClr val="EBEBEB"/>
                </a:solidFill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200"/>
              <a:buNone/>
              <a:defRPr sz="1200">
                <a:solidFill>
                  <a:srgbClr val="EBEBEB"/>
                </a:solidFill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200"/>
              <a:buNone/>
              <a:defRPr sz="1200">
                <a:solidFill>
                  <a:srgbClr val="EBEBEB"/>
                </a:solidFill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200"/>
              <a:buNone/>
              <a:defRPr sz="1200">
                <a:solidFill>
                  <a:srgbClr val="EBEBEB"/>
                </a:solidFill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200"/>
              <a:buNone/>
              <a:defRPr sz="1200">
                <a:solidFill>
                  <a:srgbClr val="EBEBEB"/>
                </a:solidFill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200"/>
              <a:buNone/>
              <a:defRPr sz="1200">
                <a:solidFill>
                  <a:srgbClr val="EBEBEB"/>
                </a:solidFill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200"/>
              <a:buNone/>
              <a:defRPr sz="1200">
                <a:solidFill>
                  <a:srgbClr val="EBEBEB"/>
                </a:solidFill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200"/>
              <a:buNone/>
              <a:defRPr sz="1200">
                <a:solidFill>
                  <a:srgbClr val="EBEBEB"/>
                </a:solidFill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200"/>
              <a:buNone/>
              <a:defRPr sz="1200">
                <a:solidFill>
                  <a:srgbClr val="EBEBEB"/>
                </a:solidFill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3" type="subTitle"/>
          </p:nvPr>
        </p:nvSpPr>
        <p:spPr>
          <a:xfrm>
            <a:off x="4471850" y="46817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200"/>
              <a:buNone/>
              <a:defRPr sz="1200">
                <a:solidFill>
                  <a:srgbClr val="EBEBEB"/>
                </a:solidFill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200"/>
              <a:buNone/>
              <a:defRPr sz="1200">
                <a:solidFill>
                  <a:srgbClr val="EBEBEB"/>
                </a:solidFill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200"/>
              <a:buNone/>
              <a:defRPr sz="1200">
                <a:solidFill>
                  <a:srgbClr val="EBEBEB"/>
                </a:solidFill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200"/>
              <a:buNone/>
              <a:defRPr sz="1200">
                <a:solidFill>
                  <a:srgbClr val="EBEBEB"/>
                </a:solidFill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200"/>
              <a:buNone/>
              <a:defRPr sz="1200">
                <a:solidFill>
                  <a:srgbClr val="EBEBEB"/>
                </a:solidFill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200"/>
              <a:buNone/>
              <a:defRPr sz="1200">
                <a:solidFill>
                  <a:srgbClr val="EBEBEB"/>
                </a:solidFill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200"/>
              <a:buNone/>
              <a:defRPr sz="1200">
                <a:solidFill>
                  <a:srgbClr val="EBEBEB"/>
                </a:solidFill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200"/>
              <a:buNone/>
              <a:defRPr sz="1200">
                <a:solidFill>
                  <a:srgbClr val="EBEBEB"/>
                </a:solidFill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200"/>
              <a:buNone/>
              <a:defRPr sz="1200">
                <a:solidFill>
                  <a:srgbClr val="EBEBEB"/>
                </a:solidFill>
              </a:defRPr>
            </a:lvl9pPr>
          </a:lstStyle>
          <a:p/>
        </p:txBody>
      </p:sp>
      <p:pic>
        <p:nvPicPr>
          <p:cNvPr id="39" name="Google Shape;39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" name="Google Shape;40;p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" name="Google Shape;41;p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ck closing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/>
          <p:nvPr>
            <p:ph idx="1" type="subTitle"/>
          </p:nvPr>
        </p:nvSpPr>
        <p:spPr>
          <a:xfrm>
            <a:off x="2083725" y="3008425"/>
            <a:ext cx="41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400"/>
              <a:buNone/>
              <a:defRPr sz="1400">
                <a:solidFill>
                  <a:srgbClr val="EBEBEB"/>
                </a:solidFill>
              </a:defRPr>
            </a:lvl1pPr>
            <a:lvl2pPr lvl="1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400"/>
              <a:buNone/>
              <a:defRPr sz="1400">
                <a:solidFill>
                  <a:srgbClr val="EBEBEB"/>
                </a:solidFill>
              </a:defRPr>
            </a:lvl2pPr>
            <a:lvl3pPr lvl="2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400"/>
              <a:buNone/>
              <a:defRPr sz="1400">
                <a:solidFill>
                  <a:srgbClr val="EBEBEB"/>
                </a:solidFill>
              </a:defRPr>
            </a:lvl3pPr>
            <a:lvl4pPr lvl="3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400"/>
              <a:buNone/>
              <a:defRPr sz="1400">
                <a:solidFill>
                  <a:srgbClr val="EBEBEB"/>
                </a:solidFill>
              </a:defRPr>
            </a:lvl4pPr>
            <a:lvl5pPr lvl="4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400"/>
              <a:buNone/>
              <a:defRPr sz="1400">
                <a:solidFill>
                  <a:srgbClr val="EBEBEB"/>
                </a:solidFill>
              </a:defRPr>
            </a:lvl5pPr>
            <a:lvl6pPr lvl="5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400"/>
              <a:buNone/>
              <a:defRPr sz="1400">
                <a:solidFill>
                  <a:srgbClr val="EBEBEB"/>
                </a:solidFill>
              </a:defRPr>
            </a:lvl6pPr>
            <a:lvl7pPr lvl="6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400"/>
              <a:buNone/>
              <a:defRPr sz="1400">
                <a:solidFill>
                  <a:srgbClr val="EBEBEB"/>
                </a:solidFill>
              </a:defRPr>
            </a:lvl7pPr>
            <a:lvl8pPr lvl="7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400"/>
              <a:buNone/>
              <a:defRPr sz="1400">
                <a:solidFill>
                  <a:srgbClr val="EBEBEB"/>
                </a:solidFill>
              </a:defRPr>
            </a:lvl8pPr>
            <a:lvl9pPr lvl="8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1400"/>
              <a:buNone/>
              <a:defRPr sz="1400">
                <a:solidFill>
                  <a:srgbClr val="EBEBEB"/>
                </a:solidFill>
              </a:defRPr>
            </a:lvl9pPr>
          </a:lstStyle>
          <a:p/>
        </p:txBody>
      </p:sp>
      <p:sp>
        <p:nvSpPr>
          <p:cNvPr id="44" name="Google Shape;44;p5"/>
          <p:cNvSpPr txBox="1"/>
          <p:nvPr/>
        </p:nvSpPr>
        <p:spPr>
          <a:xfrm>
            <a:off x="10068030" y="269836"/>
            <a:ext cx="1619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EBEBEB"/>
                </a:solidFill>
                <a:latin typeface="Overpass"/>
                <a:ea typeface="Overpass"/>
                <a:cs typeface="Overpass"/>
                <a:sym typeface="Overpass"/>
              </a:rPr>
              <a:t xml:space="preserve">CONFIDENTIAL </a:t>
            </a:r>
            <a:r>
              <a:rPr lang="en" sz="600">
                <a:solidFill>
                  <a:srgbClr val="EBEBEB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Designator</a:t>
            </a:r>
            <a:endParaRPr sz="600">
              <a:solidFill>
                <a:srgbClr val="EBEBEB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45" name="Google Shape;45;p5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rgbClr val="EBEBEB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rgbClr val="EBEBEB"/>
                </a:solidFill>
              </a:defRPr>
            </a:lvl2pPr>
            <a:lvl3pPr lvl="2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rgbClr val="EBEBEB"/>
                </a:solidFill>
              </a:defRPr>
            </a:lvl3pPr>
            <a:lvl4pPr lvl="3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rgbClr val="EBEBEB"/>
                </a:solidFill>
              </a:defRPr>
            </a:lvl4pPr>
            <a:lvl5pPr lvl="4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rgbClr val="EBEBEB"/>
                </a:solidFill>
              </a:defRPr>
            </a:lvl5pPr>
            <a:lvl6pPr lvl="5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rgbClr val="EBEBEB"/>
                </a:solidFill>
              </a:defRPr>
            </a:lvl6pPr>
            <a:lvl7pPr lvl="6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rgbClr val="EBEBEB"/>
                </a:solidFill>
              </a:defRPr>
            </a:lvl7pPr>
            <a:lvl8pPr lvl="7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rgbClr val="EBEBEB"/>
                </a:solidFill>
              </a:defRPr>
            </a:lvl8pPr>
            <a:lvl9pPr lvl="8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rgbClr val="EBEBEB"/>
                </a:solidFill>
              </a:defRPr>
            </a:lvl9pPr>
          </a:lstStyle>
          <a:p/>
        </p:txBody>
      </p:sp>
      <p:pic>
        <p:nvPicPr>
          <p:cNvPr id="46" name="Google Shape;46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5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BEBEB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linkedin.com/company/red-hat</a:t>
            </a:r>
            <a:endParaRPr>
              <a:solidFill>
                <a:srgbClr val="EBEBEB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7960472" y="27678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BEBEB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youtube.com/user/RedHatVideos</a:t>
            </a:r>
            <a:endParaRPr>
              <a:solidFill>
                <a:srgbClr val="EBEBEB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49" name="Google Shape;49;p5"/>
          <p:cNvSpPr txBox="1"/>
          <p:nvPr/>
        </p:nvSpPr>
        <p:spPr>
          <a:xfrm>
            <a:off x="7960472" y="35359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BEBEB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facebook.com/redhatinc</a:t>
            </a:r>
            <a:endParaRPr>
              <a:solidFill>
                <a:srgbClr val="EBEBEB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50" name="Google Shape;50;p5"/>
          <p:cNvSpPr txBox="1"/>
          <p:nvPr/>
        </p:nvSpPr>
        <p:spPr>
          <a:xfrm>
            <a:off x="7960472" y="43039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BEBEB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twitter.com/RedHat</a:t>
            </a:r>
            <a:endParaRPr>
              <a:solidFill>
                <a:srgbClr val="EBEBEB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cxnSp>
        <p:nvCxnSpPr>
          <p:cNvPr id="51" name="Google Shape;51;p5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" name="Google Shape;5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21275" y="1882617"/>
            <a:ext cx="580517" cy="580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21275" y="3404473"/>
            <a:ext cx="580517" cy="580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21275" y="2705617"/>
            <a:ext cx="580517" cy="580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21275" y="4214033"/>
            <a:ext cx="580517" cy="5805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" name="Google Shape;56;p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" name="Google Shape;57;p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illustrated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/>
          <p:nvPr/>
        </p:nvSpPr>
        <p:spPr>
          <a:xfrm>
            <a:off x="10068030" y="269836"/>
            <a:ext cx="1619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 xml:space="preserve">CONFIDENTIAL </a:t>
            </a:r>
            <a:r>
              <a:rPr lang="en" sz="600">
                <a:solidFill>
                  <a:srgbClr val="666666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Designator</a:t>
            </a:r>
            <a:endParaRPr sz="600">
              <a:solidFill>
                <a:srgbClr val="666666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pic>
        <p:nvPicPr>
          <p:cNvPr id="60" name="Google Shape;6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" name="Google Shape;61;p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" name="Google Shape;62;p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6"/>
          <p:cNvSpPr txBox="1"/>
          <p:nvPr>
            <p:ph idx="1" type="subTitle"/>
          </p:nvPr>
        </p:nvSpPr>
        <p:spPr>
          <a:xfrm>
            <a:off x="5660525" y="3971650"/>
            <a:ext cx="4446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4" name="Google Shape;64;p6"/>
          <p:cNvSpPr txBox="1"/>
          <p:nvPr>
            <p:ph type="title"/>
          </p:nvPr>
        </p:nvSpPr>
        <p:spPr>
          <a:xfrm>
            <a:off x="5660525" y="1709031"/>
            <a:ext cx="5736300" cy="211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46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46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46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46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46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46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46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46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46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/>
        </p:txBody>
      </p:sp>
      <p:sp>
        <p:nvSpPr>
          <p:cNvPr id="65" name="Google Shape;65;p6"/>
          <p:cNvSpPr txBox="1"/>
          <p:nvPr>
            <p:ph idx="2" type="subTitle"/>
          </p:nvPr>
        </p:nvSpPr>
        <p:spPr>
          <a:xfrm>
            <a:off x="5660525" y="5318275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66" name="Google Shape;66;p6"/>
          <p:cNvSpPr txBox="1"/>
          <p:nvPr>
            <p:ph idx="3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illustrated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"/>
          <p:cNvSpPr txBox="1"/>
          <p:nvPr/>
        </p:nvSpPr>
        <p:spPr>
          <a:xfrm>
            <a:off x="10068030" y="269836"/>
            <a:ext cx="1619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 xml:space="preserve">CONFIDENTIAL </a:t>
            </a:r>
            <a:r>
              <a:rPr lang="en" sz="600">
                <a:solidFill>
                  <a:srgbClr val="666666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Designator</a:t>
            </a:r>
            <a:endParaRPr sz="600">
              <a:solidFill>
                <a:srgbClr val="666666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pic>
        <p:nvPicPr>
          <p:cNvPr id="69" name="Google Shape;6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" name="Google Shape;70;p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7"/>
          <p:cNvSpPr txBox="1"/>
          <p:nvPr>
            <p:ph type="title"/>
          </p:nvPr>
        </p:nvSpPr>
        <p:spPr>
          <a:xfrm>
            <a:off x="5660525" y="568626"/>
            <a:ext cx="5736300" cy="19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7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7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7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7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7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7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7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7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7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/>
        </p:txBody>
      </p:sp>
      <p:sp>
        <p:nvSpPr>
          <p:cNvPr id="73" name="Google Shape;73;p7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/>
        </p:txBody>
      </p:sp>
      <p:sp>
        <p:nvSpPr>
          <p:cNvPr id="74" name="Google Shape;74;p7"/>
          <p:cNvSpPr txBox="1"/>
          <p:nvPr>
            <p:ph idx="2" type="subTitle"/>
          </p:nvPr>
        </p:nvSpPr>
        <p:spPr>
          <a:xfrm>
            <a:off x="5660525" y="2752400"/>
            <a:ext cx="44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75" name="Google Shape;75;p7"/>
          <p:cNvSpPr txBox="1"/>
          <p:nvPr/>
        </p:nvSpPr>
        <p:spPr>
          <a:xfrm>
            <a:off x="5903450" y="4669200"/>
            <a:ext cx="23238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verpass Light"/>
                <a:ea typeface="Overpass Light"/>
                <a:cs typeface="Overpass Light"/>
                <a:sym typeface="Overpass Light"/>
              </a:rPr>
              <a:t>linkedin.com/company/red-hat</a:t>
            </a:r>
            <a:endParaRPr sz="1100"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76" name="Google Shape;76;p7"/>
          <p:cNvSpPr txBox="1"/>
          <p:nvPr/>
        </p:nvSpPr>
        <p:spPr>
          <a:xfrm>
            <a:off x="5903450" y="5174300"/>
            <a:ext cx="23238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verpass Light"/>
                <a:ea typeface="Overpass Light"/>
                <a:cs typeface="Overpass Light"/>
                <a:sym typeface="Overpass Light"/>
              </a:rPr>
              <a:t>youtube.com/user/RedHatVideos</a:t>
            </a:r>
            <a:endParaRPr sz="1100"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77" name="Google Shape;77;p7"/>
          <p:cNvSpPr txBox="1"/>
          <p:nvPr/>
        </p:nvSpPr>
        <p:spPr>
          <a:xfrm>
            <a:off x="8815525" y="4669200"/>
            <a:ext cx="23238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verpass Light"/>
                <a:ea typeface="Overpass Light"/>
                <a:cs typeface="Overpass Light"/>
                <a:sym typeface="Overpass Light"/>
              </a:rPr>
              <a:t>facebook.com/redhatinc</a:t>
            </a:r>
            <a:endParaRPr sz="1100"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78" name="Google Shape;78;p7"/>
          <p:cNvSpPr txBox="1"/>
          <p:nvPr/>
        </p:nvSpPr>
        <p:spPr>
          <a:xfrm>
            <a:off x="8815525" y="5174300"/>
            <a:ext cx="23238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verpass Light"/>
                <a:ea typeface="Overpass Light"/>
                <a:cs typeface="Overpass Light"/>
                <a:sym typeface="Overpass Light"/>
              </a:rPr>
              <a:t>twitter.com/RedHat</a:t>
            </a:r>
            <a:endParaRPr sz="1100"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pic>
        <p:nvPicPr>
          <p:cNvPr id="79" name="Google Shape;79;p7"/>
          <p:cNvPicPr preferRelativeResize="0"/>
          <p:nvPr/>
        </p:nvPicPr>
        <p:blipFill rotWithShape="1">
          <a:blip r:embed="rId4">
            <a:alphaModFix/>
          </a:blip>
          <a:srcRect b="0" l="2508" r="2498" t="0"/>
          <a:stretch/>
        </p:blipFill>
        <p:spPr>
          <a:xfrm>
            <a:off x="8586459" y="5174306"/>
            <a:ext cx="229075" cy="24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7"/>
          <p:cNvPicPr preferRelativeResize="0"/>
          <p:nvPr/>
        </p:nvPicPr>
        <p:blipFill rotWithShape="1">
          <a:blip r:embed="rId5">
            <a:alphaModFix/>
          </a:blip>
          <a:srcRect b="0" l="2678" r="2678" t="0"/>
          <a:stretch/>
        </p:blipFill>
        <p:spPr>
          <a:xfrm>
            <a:off x="8586459" y="4669206"/>
            <a:ext cx="229075" cy="24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7"/>
          <p:cNvPicPr preferRelativeResize="0"/>
          <p:nvPr/>
        </p:nvPicPr>
        <p:blipFill rotWithShape="1">
          <a:blip r:embed="rId6">
            <a:alphaModFix/>
          </a:blip>
          <a:srcRect b="0" l="2508" r="2498" t="0"/>
          <a:stretch/>
        </p:blipFill>
        <p:spPr>
          <a:xfrm>
            <a:off x="5660534" y="5174306"/>
            <a:ext cx="229075" cy="24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7"/>
          <p:cNvPicPr preferRelativeResize="0"/>
          <p:nvPr/>
        </p:nvPicPr>
        <p:blipFill rotWithShape="1">
          <a:blip r:embed="rId7">
            <a:alphaModFix/>
          </a:blip>
          <a:srcRect b="0" l="2326" r="2326" t="0"/>
          <a:stretch/>
        </p:blipFill>
        <p:spPr>
          <a:xfrm>
            <a:off x="5660534" y="4669206"/>
            <a:ext cx="229075" cy="24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black">
  <p:cSld name="CUSTOM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BEBEB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BEBEB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BEBEB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BEBEB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BEBEB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BEBEB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BEBEB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BEBEB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BEBEB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/>
        </p:txBody>
      </p:sp>
      <p:cxnSp>
        <p:nvCxnSpPr>
          <p:cNvPr id="85" name="Google Shape;85;p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" name="Google Shape;86;p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7" name="Google Shape;87;p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" name="Google Shape;88;p8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/>
        </p:txBody>
      </p:sp>
      <p:sp>
        <p:nvSpPr>
          <p:cNvPr id="89" name="Google Shape;89;p8"/>
          <p:cNvSpPr txBox="1"/>
          <p:nvPr/>
        </p:nvSpPr>
        <p:spPr>
          <a:xfrm>
            <a:off x="10068030" y="269836"/>
            <a:ext cx="1619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 xml:space="preserve">CONFIDENTIAL </a:t>
            </a:r>
            <a:r>
              <a:rPr lang="en" sz="600">
                <a:solidFill>
                  <a:srgbClr val="666666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Designator</a:t>
            </a:r>
            <a:endParaRPr sz="600">
              <a:solidFill>
                <a:srgbClr val="666666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90" name="Google Shape;90;p8"/>
          <p:cNvSpPr txBox="1"/>
          <p:nvPr>
            <p:ph idx="2" type="subTitle"/>
          </p:nvPr>
        </p:nvSpPr>
        <p:spPr>
          <a:xfrm>
            <a:off x="9251450" y="1743719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4D4D4F"/>
                </a:solidFill>
              </a:defRPr>
            </a:lvl1pPr>
            <a:lvl2pPr lvl="1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4D4D4F"/>
                </a:solidFill>
              </a:defRPr>
            </a:lvl2pPr>
            <a:lvl3pPr lvl="2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4D4D4F"/>
                </a:solidFill>
              </a:defRPr>
            </a:lvl3pPr>
            <a:lvl4pPr lvl="3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4D4D4F"/>
                </a:solidFill>
              </a:defRPr>
            </a:lvl4pPr>
            <a:lvl5pPr lvl="4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4D4D4F"/>
                </a:solidFill>
              </a:defRPr>
            </a:lvl5pPr>
            <a:lvl6pPr lvl="5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4D4D4F"/>
                </a:solidFill>
              </a:defRPr>
            </a:lvl6pPr>
            <a:lvl7pPr lvl="6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4D4D4F"/>
                </a:solidFill>
              </a:defRPr>
            </a:lvl7pPr>
            <a:lvl8pPr lvl="7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4D4D4F"/>
                </a:solidFill>
              </a:defRPr>
            </a:lvl8pPr>
            <a:lvl9pPr lvl="8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4D4D4F"/>
                </a:solidFill>
              </a:defRPr>
            </a:lvl9pPr>
          </a:lstStyle>
          <a:p/>
        </p:txBody>
      </p:sp>
      <p:pic>
        <p:nvPicPr>
          <p:cNvPr id="91" name="Google Shape;91;p8"/>
          <p:cNvPicPr preferRelativeResize="0"/>
          <p:nvPr/>
        </p:nvPicPr>
        <p:blipFill rotWithShape="1">
          <a:blip r:embed="rId3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white">
  <p:cSld name="CUSTOM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/>
        </p:txBody>
      </p:sp>
      <p:cxnSp>
        <p:nvCxnSpPr>
          <p:cNvPr id="94" name="Google Shape;94;p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" name="Google Shape;95;p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6" name="Google Shape;96;p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" name="Google Shape;97;p9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/>
        </p:txBody>
      </p:sp>
      <p:sp>
        <p:nvSpPr>
          <p:cNvPr id="98" name="Google Shape;98;p9"/>
          <p:cNvSpPr txBox="1"/>
          <p:nvPr/>
        </p:nvSpPr>
        <p:spPr>
          <a:xfrm>
            <a:off x="10068030" y="269836"/>
            <a:ext cx="1619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EBEBEB"/>
                </a:solidFill>
                <a:latin typeface="Overpass"/>
                <a:ea typeface="Overpass"/>
                <a:cs typeface="Overpass"/>
                <a:sym typeface="Overpass"/>
              </a:rPr>
              <a:t xml:space="preserve">CONFIDENTIAL </a:t>
            </a:r>
            <a:r>
              <a:rPr lang="en" sz="600">
                <a:solidFill>
                  <a:srgbClr val="EBEBEB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Designator</a:t>
            </a:r>
            <a:endParaRPr sz="600">
              <a:solidFill>
                <a:srgbClr val="EBEBEB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99" name="Google Shape;99;p9"/>
          <p:cNvSpPr txBox="1"/>
          <p:nvPr>
            <p:ph idx="2" type="subTitle"/>
          </p:nvPr>
        </p:nvSpPr>
        <p:spPr>
          <a:xfrm>
            <a:off x="9251450" y="1743719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9pPr>
          </a:lstStyle>
          <a:p/>
        </p:txBody>
      </p:sp>
      <p:pic>
        <p:nvPicPr>
          <p:cNvPr id="100" name="Google Shape;100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11279" y="6312505"/>
            <a:ext cx="975850" cy="229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white">
  <p:cSld name="CUSTOM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/>
        </p:txBody>
      </p:sp>
      <p:cxnSp>
        <p:nvCxnSpPr>
          <p:cNvPr id="103" name="Google Shape;103;p1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05" name="Google Shape;105;p1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" name="Google Shape;106;p10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Overpass SemiBold"/>
              <a:buNone/>
              <a:defRPr sz="9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/>
        </p:txBody>
      </p:sp>
      <p:sp>
        <p:nvSpPr>
          <p:cNvPr id="107" name="Google Shape;107;p10"/>
          <p:cNvSpPr txBox="1"/>
          <p:nvPr>
            <p:ph idx="2" type="subTitle"/>
          </p:nvPr>
        </p:nvSpPr>
        <p:spPr>
          <a:xfrm>
            <a:off x="9251450" y="1743719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9pPr>
          </a:lstStyle>
          <a:p/>
        </p:txBody>
      </p:sp>
      <p:pic>
        <p:nvPicPr>
          <p:cNvPr id="108" name="Google Shape;108;p10"/>
          <p:cNvPicPr preferRelativeResize="0"/>
          <p:nvPr/>
        </p:nvPicPr>
        <p:blipFill rotWithShape="1">
          <a:blip r:embed="rId3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0"/>
          <p:cNvSpPr txBox="1"/>
          <p:nvPr/>
        </p:nvSpPr>
        <p:spPr>
          <a:xfrm>
            <a:off x="10068030" y="269836"/>
            <a:ext cx="1619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 xml:space="preserve">CONFIDENTIAL </a:t>
            </a:r>
            <a:r>
              <a:rPr lang="en" sz="600">
                <a:solidFill>
                  <a:srgbClr val="666666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Designator</a:t>
            </a:r>
            <a:endParaRPr sz="600">
              <a:solidFill>
                <a:srgbClr val="666666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110" name="Google Shape;110;p10"/>
          <p:cNvSpPr txBox="1"/>
          <p:nvPr>
            <p:ph idx="3" type="subTitle"/>
          </p:nvPr>
        </p:nvSpPr>
        <p:spPr>
          <a:xfrm>
            <a:off x="9251450" y="1743719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large quote white">
  <p:cSld name="CUSTOM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1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rgbClr val="EE0000"/>
                </a:solidFill>
              </a:defRPr>
            </a:lvl1pPr>
            <a:lvl2pPr lv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rgbClr val="EE0000"/>
                </a:solidFill>
              </a:defRPr>
            </a:lvl2pPr>
            <a:lvl3pPr lvl="2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rgbClr val="EE0000"/>
                </a:solidFill>
              </a:defRPr>
            </a:lvl3pPr>
            <a:lvl4pPr lvl="3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rgbClr val="EE0000"/>
                </a:solidFill>
              </a:defRPr>
            </a:lvl4pPr>
            <a:lvl5pPr lvl="4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rgbClr val="EE0000"/>
                </a:solidFill>
              </a:defRPr>
            </a:lvl5pPr>
            <a:lvl6pPr lvl="5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rgbClr val="EE0000"/>
                </a:solidFill>
              </a:defRPr>
            </a:lvl6pPr>
            <a:lvl7pPr lvl="6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rgbClr val="EE0000"/>
                </a:solidFill>
              </a:defRPr>
            </a:lvl7pPr>
            <a:lvl8pPr lvl="7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rgbClr val="EE0000"/>
                </a:solidFill>
              </a:defRPr>
            </a:lvl8pPr>
            <a:lvl9pPr lvl="8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rgbClr val="EE0000"/>
                </a:solidFill>
              </a:defRPr>
            </a:lvl9pPr>
          </a:lstStyle>
          <a:p/>
        </p:txBody>
      </p:sp>
      <p:cxnSp>
        <p:nvCxnSpPr>
          <p:cNvPr id="113" name="Google Shape;113;p1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" name="Google Shape;114;p1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" name="Google Shape;115;p11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/>
        </p:txBody>
      </p:sp>
      <p:pic>
        <p:nvPicPr>
          <p:cNvPr id="116" name="Google Shape;116;p11"/>
          <p:cNvPicPr preferRelativeResize="0"/>
          <p:nvPr/>
        </p:nvPicPr>
        <p:blipFill rotWithShape="1">
          <a:blip r:embed="rId3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1"/>
          <p:cNvSpPr txBox="1"/>
          <p:nvPr/>
        </p:nvSpPr>
        <p:spPr>
          <a:xfrm>
            <a:off x="10068030" y="269836"/>
            <a:ext cx="1619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 xml:space="preserve">CONFIDENTIAL </a:t>
            </a:r>
            <a:r>
              <a:rPr lang="en" sz="600">
                <a:solidFill>
                  <a:srgbClr val="666666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Designator</a:t>
            </a:r>
            <a:endParaRPr sz="600">
              <a:solidFill>
                <a:srgbClr val="666666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cxnSp>
        <p:nvCxnSpPr>
          <p:cNvPr id="118" name="Google Shape;118;p11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large quote red">
  <p:cSld name="CUSTOM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1pPr>
            <a:lvl2pPr lvl="1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2pPr>
            <a:lvl3pPr lvl="2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3pPr>
            <a:lvl4pPr lvl="3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4pPr>
            <a:lvl5pPr lvl="4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5pPr>
            <a:lvl6pPr lvl="5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6pPr>
            <a:lvl7pPr lvl="6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7pPr>
            <a:lvl8pPr lvl="7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8pPr>
            <a:lvl9pPr lvl="8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21" name="Google Shape;121;p1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" name="Google Shape;122;p1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3" name="Google Shape;123;p12"/>
          <p:cNvPicPr preferRelativeResize="0"/>
          <p:nvPr/>
        </p:nvPicPr>
        <p:blipFill rotWithShape="1">
          <a:blip r:embed="rId3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2"/>
          <p:cNvSpPr txBox="1"/>
          <p:nvPr/>
        </p:nvSpPr>
        <p:spPr>
          <a:xfrm>
            <a:off x="10068030" y="269836"/>
            <a:ext cx="1619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 xml:space="preserve">CONFIDENTIAL </a:t>
            </a:r>
            <a:r>
              <a:rPr lang="en" sz="6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Designator</a:t>
            </a:r>
            <a:endParaRPr sz="600">
              <a:solidFill>
                <a:schemeClr val="lt1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cxnSp>
        <p:nvCxnSpPr>
          <p:cNvPr id="125" name="Google Shape;125;p12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" name="Google Shape;126;p1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2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large quote illustrated">
  <p:cSld name="CUSTOM_3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3"/>
          <p:cNvSpPr txBox="1"/>
          <p:nvPr>
            <p:ph type="title"/>
          </p:nvPr>
        </p:nvSpPr>
        <p:spPr>
          <a:xfrm>
            <a:off x="5674100" y="1632950"/>
            <a:ext cx="5037300" cy="388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1pPr>
            <a:lvl2pPr lvl="1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2pPr>
            <a:lvl3pPr lvl="2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3pPr>
            <a:lvl4pPr lvl="3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4pPr>
            <a:lvl5pPr lvl="4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5pPr>
            <a:lvl6pPr lvl="5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6pPr>
            <a:lvl7pPr lvl="6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7pPr>
            <a:lvl8pPr lvl="7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8pPr>
            <a:lvl9pPr lvl="8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30" name="Google Shape;130;p1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" name="Google Shape;131;p1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8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13"/>
          <p:cNvSpPr txBox="1"/>
          <p:nvPr/>
        </p:nvSpPr>
        <p:spPr>
          <a:xfrm>
            <a:off x="10068030" y="269836"/>
            <a:ext cx="1619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 xml:space="preserve">CONFIDENTIAL </a:t>
            </a:r>
            <a:r>
              <a:rPr lang="en" sz="6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Designator</a:t>
            </a:r>
            <a:endParaRPr sz="600">
              <a:solidFill>
                <a:schemeClr val="lt1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133" name="Google Shape;133;p13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verpass SemiBold"/>
              <a:buNone/>
              <a:defRPr sz="9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/>
        </p:txBody>
      </p:sp>
      <p:pic>
        <p:nvPicPr>
          <p:cNvPr id="134" name="Google Shape;13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11279" y="6312505"/>
            <a:ext cx="975850" cy="229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">
  <p:cSld name="CUSTOM_4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"/>
          <p:cNvSpPr txBox="1"/>
          <p:nvPr>
            <p:ph type="title"/>
          </p:nvPr>
        </p:nvSpPr>
        <p:spPr>
          <a:xfrm>
            <a:off x="1752600" y="946000"/>
            <a:ext cx="8686800" cy="96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137" name="Google Shape;137;p1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" name="Google Shape;138;p14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/>
        </p:txBody>
      </p:sp>
      <p:cxnSp>
        <p:nvCxnSpPr>
          <p:cNvPr id="139" name="Google Shape;139;p1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" name="Google Shape;140;p1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10068030" y="269836"/>
            <a:ext cx="1619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 xml:space="preserve">CONFIDENTIAL </a:t>
            </a:r>
            <a:r>
              <a:rPr lang="en" sz="600">
                <a:solidFill>
                  <a:srgbClr val="666666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Designator</a:t>
            </a:r>
            <a:endParaRPr sz="600">
              <a:solidFill>
                <a:srgbClr val="666666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pic>
        <p:nvPicPr>
          <p:cNvPr id="142" name="Google Shape;142;p14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4"/>
          <p:cNvSpPr txBox="1"/>
          <p:nvPr>
            <p:ph idx="2" type="subTitle"/>
          </p:nvPr>
        </p:nvSpPr>
        <p:spPr>
          <a:xfrm>
            <a:off x="885050" y="6169550"/>
            <a:ext cx="91830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4D4D4F"/>
                </a:solidFill>
              </a:defRPr>
            </a:lvl1pPr>
            <a:lvl2pPr lvl="1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4D4D4F"/>
                </a:solidFill>
              </a:defRPr>
            </a:lvl2pPr>
            <a:lvl3pPr lvl="2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4D4D4F"/>
                </a:solidFill>
              </a:defRPr>
            </a:lvl3pPr>
            <a:lvl4pPr lvl="3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4D4D4F"/>
                </a:solidFill>
              </a:defRPr>
            </a:lvl4pPr>
            <a:lvl5pPr lvl="4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4D4D4F"/>
                </a:solidFill>
              </a:defRPr>
            </a:lvl5pPr>
            <a:lvl6pPr lvl="5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4D4D4F"/>
                </a:solidFill>
              </a:defRPr>
            </a:lvl6pPr>
            <a:lvl7pPr lvl="6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4D4D4F"/>
                </a:solidFill>
              </a:defRPr>
            </a:lvl7pPr>
            <a:lvl8pPr lvl="7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4D4D4F"/>
                </a:solidFill>
              </a:defRPr>
            </a:lvl8pPr>
            <a:lvl9pPr lvl="8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4D4D4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lack">
  <p:cSld name="CUSTOM_4_1">
    <p:bg>
      <p:bgPr>
        <a:solidFill>
          <a:srgbClr val="141414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1752600" y="946000"/>
            <a:ext cx="8686800" cy="96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EBEBEB"/>
                </a:solidFill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EBEBEB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EBEBEB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EBEBEB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EBEBEB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EBEBEB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EBEBEB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EBEBEB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EBEBEB"/>
                </a:solidFill>
              </a:defRPr>
            </a:lvl9pPr>
          </a:lstStyle>
          <a:p/>
        </p:txBody>
      </p:sp>
      <p:cxnSp>
        <p:nvCxnSpPr>
          <p:cNvPr id="146" name="Google Shape;146;p1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" name="Google Shape;147;p15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900"/>
              <a:buFont typeface="Overpass SemiBold"/>
              <a:buNone/>
              <a:defRPr sz="9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900"/>
              <a:buFont typeface="Overpass SemiBold"/>
              <a:buNone/>
              <a:defRPr sz="9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900"/>
              <a:buFont typeface="Overpass SemiBold"/>
              <a:buNone/>
              <a:defRPr sz="9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900"/>
              <a:buFont typeface="Overpass SemiBold"/>
              <a:buNone/>
              <a:defRPr sz="9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900"/>
              <a:buFont typeface="Overpass SemiBold"/>
              <a:buNone/>
              <a:defRPr sz="9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900"/>
              <a:buFont typeface="Overpass SemiBold"/>
              <a:buNone/>
              <a:defRPr sz="9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900"/>
              <a:buFont typeface="Overpass SemiBold"/>
              <a:buNone/>
              <a:defRPr sz="9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900"/>
              <a:buFont typeface="Overpass SemiBold"/>
              <a:buNone/>
              <a:defRPr sz="9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900"/>
              <a:buFont typeface="Overpass SemiBold"/>
              <a:buNone/>
              <a:defRPr sz="9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/>
        </p:txBody>
      </p:sp>
      <p:cxnSp>
        <p:nvCxnSpPr>
          <p:cNvPr id="148" name="Google Shape;148;p1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" name="Google Shape;149;p1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800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10068030" y="269836"/>
            <a:ext cx="1619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EBEBEB"/>
                </a:solidFill>
                <a:latin typeface="Overpass"/>
                <a:ea typeface="Overpass"/>
                <a:cs typeface="Overpass"/>
                <a:sym typeface="Overpass"/>
              </a:rPr>
              <a:t xml:space="preserve">CONFIDENTIAL </a:t>
            </a:r>
            <a:r>
              <a:rPr lang="en" sz="600">
                <a:solidFill>
                  <a:srgbClr val="EBEBEB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Designator</a:t>
            </a:r>
            <a:endParaRPr sz="600">
              <a:solidFill>
                <a:srgbClr val="EBEBEB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151" name="Google Shape;151;p15"/>
          <p:cNvSpPr txBox="1"/>
          <p:nvPr>
            <p:ph idx="2" type="subTitle"/>
          </p:nvPr>
        </p:nvSpPr>
        <p:spPr>
          <a:xfrm>
            <a:off x="885050" y="6169550"/>
            <a:ext cx="91830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BEBEB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BEBEB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BEBEB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BEBEB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BEBEB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BEBEB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BEBEB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BEBEB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BEBEB"/>
                </a:solidFill>
              </a:defRPr>
            </a:lvl9pPr>
          </a:lstStyle>
          <a:p/>
        </p:txBody>
      </p:sp>
      <p:pic>
        <p:nvPicPr>
          <p:cNvPr id="152" name="Google Shape;152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11279" y="6312505"/>
            <a:ext cx="975850" cy="229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lank">
  <p:cSld name="CUSTOM_4_18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55" name="Google Shape;155;p1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1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" name="Google Shape;157;p1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8" name="Google Shape;158;p16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and column body">
  <p:cSld name="CUSTOM_4_17_1_1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1" name="Google Shape;161;p1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1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" name="Google Shape;163;p1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6" name="Google Shape;166;p17"/>
          <p:cNvSpPr txBox="1"/>
          <p:nvPr>
            <p:ph idx="2" type="body"/>
          </p:nvPr>
        </p:nvSpPr>
        <p:spPr>
          <a:xfrm>
            <a:off x="6369425" y="2291175"/>
            <a:ext cx="4937700" cy="37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1950" lvl="0" marL="4572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2100"/>
              <a:buChar char="●"/>
              <a:defRPr/>
            </a:lvl1pPr>
            <a:lvl2pPr indent="-330200" lvl="1" marL="9144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67" name="Google Shape;167;p17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68" name="Google Shape;168;p17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69" name="Google Shape;169;p17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21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21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21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21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21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21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21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2100"/>
              </a:spcBef>
              <a:spcAft>
                <a:spcPts val="21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 alt1">
  <p:cSld name="CUSTOM_4_2_2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1" name="Google Shape;171;p1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1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" name="Google Shape;173;p1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4" name="Google Shape;174;p18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18"/>
          <p:cNvSpPr txBox="1"/>
          <p:nvPr>
            <p:ph idx="2" type="subTitle"/>
          </p:nvPr>
        </p:nvSpPr>
        <p:spPr>
          <a:xfrm>
            <a:off x="2087850" y="2416425"/>
            <a:ext cx="8044800" cy="130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21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21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21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21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21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21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21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2100"/>
              </a:spcBef>
              <a:spcAft>
                <a:spcPts val="210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7" name="Google Shape;177;p18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78" name="Google Shape;178;p18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79" name="Google Shape;179;p18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21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21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21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21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21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21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21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2100"/>
              </a:spcBef>
              <a:spcAft>
                <a:spcPts val="21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verpass Light"/>
              <a:buNone/>
              <a:defRPr sz="3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verpass Light"/>
              <a:buNone/>
              <a:defRPr sz="3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verpass Light"/>
              <a:buNone/>
              <a:defRPr sz="3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verpass Light"/>
              <a:buNone/>
              <a:defRPr sz="3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verpass Light"/>
              <a:buNone/>
              <a:defRPr sz="3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verpass Light"/>
              <a:buNone/>
              <a:defRPr sz="3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verpass Light"/>
              <a:buNone/>
              <a:defRPr sz="3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verpass Light"/>
              <a:buNone/>
              <a:defRPr sz="3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verpass Light"/>
              <a:buNone/>
              <a:defRPr sz="3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19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Overpass Light"/>
              <a:buChar char="●"/>
              <a:defRPr sz="2100"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indent="-330200" lvl="1" marL="914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Font typeface="Overpass Light"/>
              <a:buChar char="○"/>
              <a:defRPr sz="1600"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indent="-330200" lvl="2" marL="1371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Font typeface="Overpass Light"/>
              <a:buChar char="■"/>
              <a:defRPr sz="1600"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indent="-330200" lvl="3" marL="18288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Font typeface="Overpass Light"/>
              <a:buChar char="●"/>
              <a:defRPr sz="1600"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indent="-330200" lvl="4" marL="22860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Font typeface="Overpass Light"/>
              <a:buChar char="○"/>
              <a:defRPr sz="1600"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indent="-330200" lvl="5" marL="27432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Font typeface="Overpass Light"/>
              <a:buChar char="■"/>
              <a:defRPr sz="1600"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indent="-330200" lvl="6" marL="3200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Font typeface="Overpass Light"/>
              <a:buChar char="●"/>
              <a:defRPr sz="1600"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indent="-330200" lvl="7" marL="3657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Font typeface="Overpass Light"/>
              <a:buChar char="○"/>
              <a:defRPr sz="1600"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indent="-330200" lvl="8" marL="411480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Font typeface="Overpass Light"/>
              <a:buChar char="■"/>
              <a:defRPr sz="1600"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Relationship Id="rId3" Type="http://schemas.openxmlformats.org/officeDocument/2006/relationships/hyperlink" Target="https://help.sap.com/docs/SAP_HANA_PLATFORM/4e9b18c116aa42fc84c7dbfd02111aba/afac7100bc6d47729ae8eae32da5fdec.html" TargetMode="Externa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Relationship Id="rId3" Type="http://schemas.openxmlformats.org/officeDocument/2006/relationships/hyperlink" Target="https://help.sap.com/docs/SAP_HANA_PLATFORM/4e9b18c116aa42fc84c7dbfd02111aba/afac7100bc6d47729ae8eae32da5fdec.html" TargetMode="Externa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Relationship Id="rId3" Type="http://schemas.openxmlformats.org/officeDocument/2006/relationships/hyperlink" Target="https://help.sap.com/docs/SAP_HANA_PLATFORM/4e9b18c116aa42fc84c7dbfd02111aba/afac7100bc6d47729ae8eae32da5fdec.html" TargetMode="Externa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Relationship Id="rId3" Type="http://schemas.openxmlformats.org/officeDocument/2006/relationships/hyperlink" Target="https://help.sap.com/docs/SAP_HANA_PLATFORM/4e9b18c116aa42fc84c7dbfd02111aba/afac7100bc6d47729ae8eae32da5fdec.html" TargetMode="Externa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Relationship Id="rId3" Type="http://schemas.openxmlformats.org/officeDocument/2006/relationships/hyperlink" Target="https://help.sap.com/docs/SAP_HANA_PLATFORM/4e9b18c116aa42fc84c7dbfd02111aba/afac7100bc6d47729ae8eae32da5fdec.html" TargetMode="Externa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Relationship Id="rId3" Type="http://schemas.openxmlformats.org/officeDocument/2006/relationships/hyperlink" Target="https://help.sap.com/docs/SAP_HANA_PLATFORM/4e9b18c116aa42fc84c7dbfd02111aba/afac7100bc6d47729ae8eae32da5fdec.html" TargetMode="Externa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Relationship Id="rId3" Type="http://schemas.openxmlformats.org/officeDocument/2006/relationships/hyperlink" Target="https://help.sap.com/docs/SAP_HANA_PLATFORM/4e9b18c116aa42fc84c7dbfd02111aba/afac7100bc6d47729ae8eae32da5fdec.html" TargetMode="Externa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Relationship Id="rId3" Type="http://schemas.openxmlformats.org/officeDocument/2006/relationships/hyperlink" Target="https://help.sap.com/docs/SAP_HANA_PLATFORM/4e9b18c116aa42fc84c7dbfd02111aba/afac7100bc6d47729ae8eae32da5fdec.html" TargetMode="Externa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Relationship Id="rId3" Type="http://schemas.openxmlformats.org/officeDocument/2006/relationships/hyperlink" Target="https://help.sap.com/docs/SAP_HANA_PLATFORM/4e9b18c116aa42fc84c7dbfd02111aba/afac7100bc6d47729ae8eae32da5fdec.html" TargetMode="Externa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Relationship Id="rId3" Type="http://schemas.openxmlformats.org/officeDocument/2006/relationships/hyperlink" Target="https://help.sap.com/docs/SAP_HANA_PLATFORM/4e9b18c116aa42fc84c7dbfd02111aba/afac7100bc6d47729ae8eae32da5fdec.html" TargetMode="External"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Relationship Id="rId3" Type="http://schemas.openxmlformats.org/officeDocument/2006/relationships/hyperlink" Target="https://help.sap.com/docs/SAP_HANA_PLATFORM/4e9b18c116aa42fc84c7dbfd02111aba/afac7100bc6d47729ae8eae32da5fdec.html" TargetMode="External"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Relationship Id="rId3" Type="http://schemas.openxmlformats.org/officeDocument/2006/relationships/hyperlink" Target="https://help.sap.com/docs/SAP_HANA_PLATFORM/4e9b18c116aa42fc84c7dbfd02111aba/afac7100bc6d47729ae8eae32da5fdec.html" TargetMode="External"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Relationship Id="rId3" Type="http://schemas.openxmlformats.org/officeDocument/2006/relationships/hyperlink" Target="https://help.sap.com/docs/SAP_HANA_PLATFORM/4e9b18c116aa42fc84c7dbfd02111aba/afac7100bc6d47729ae8eae32da5fdec.html" TargetMode="External"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Relationship Id="rId3" Type="http://schemas.openxmlformats.org/officeDocument/2006/relationships/hyperlink" Target="https://help.sap.com/docs/SAP_HANA_PLATFORM/4e9b18c116aa42fc84c7dbfd02111aba/afac7100bc6d47729ae8eae32da5fdec.html" TargetMode="External"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Relationship Id="rId3" Type="http://schemas.openxmlformats.org/officeDocument/2006/relationships/hyperlink" Target="https://help.sap.com/docs/SAP_HANA_PLATFORM/4e9b18c116aa42fc84c7dbfd02111aba/afac7100bc6d47729ae8eae32da5fdec.html" TargetMode="External"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Relationship Id="rId3" Type="http://schemas.openxmlformats.org/officeDocument/2006/relationships/hyperlink" Target="https://help.sap.com/docs/SAP_HANA_PLATFORM/4e9b18c116aa42fc84c7dbfd02111aba/afac7100bc6d47729ae8eae32da5fdec.html" TargetMode="External"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Relationship Id="rId3" Type="http://schemas.openxmlformats.org/officeDocument/2006/relationships/hyperlink" Target="https://help.sap.com/docs/SAP_HANA_PLATFORM/4e9b18c116aa42fc84c7dbfd02111aba/afac7100bc6d47729ae8eae32da5fdec.html" TargetMode="External"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Relationship Id="rId3" Type="http://schemas.openxmlformats.org/officeDocument/2006/relationships/hyperlink" Target="https://help.sap.com/docs/SAP_HANA_PLATFORM/4e9b18c116aa42fc84c7dbfd02111aba/afac7100bc6d47729ae8eae32da5fdec.html" TargetMode="External"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Relationship Id="rId3" Type="http://schemas.openxmlformats.org/officeDocument/2006/relationships/hyperlink" Target="https://help.sap.com/docs/SAP_HANA_PLATFORM/4e9b18c116aa42fc84c7dbfd02111aba/afac7100bc6d47729ae8eae32da5fdec.html" TargetMode="External"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Relationship Id="rId3" Type="http://schemas.openxmlformats.org/officeDocument/2006/relationships/hyperlink" Target="https://help.sap.com/docs/SAP_HANA_PLATFORM/4e9b18c116aa42fc84c7dbfd02111aba/afac7100bc6d47729ae8eae32da5fdec.html" TargetMode="External"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Relationship Id="rId3" Type="http://schemas.openxmlformats.org/officeDocument/2006/relationships/hyperlink" Target="https://help.sap.com/docs/SAP_HANA_PLATFORM/4e9b18c116aa42fc84c7dbfd02111aba/afac7100bc6d47729ae8eae32da5fdec.html" TargetMode="External"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Relationship Id="rId3" Type="http://schemas.openxmlformats.org/officeDocument/2006/relationships/hyperlink" Target="https://help.sap.com/docs/SAP_HANA_PLATFORM/4e9b18c116aa42fc84c7dbfd02111aba/afac7100bc6d47729ae8eae32da5fdec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19"/>
          <p:cNvSpPr txBox="1"/>
          <p:nvPr>
            <p:ph type="title"/>
          </p:nvPr>
        </p:nvSpPr>
        <p:spPr>
          <a:xfrm>
            <a:off x="5147425" y="2494125"/>
            <a:ext cx="6240000" cy="211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ed Hat Display"/>
                <a:ea typeface="Red Hat Display"/>
                <a:cs typeface="Red Hat Display"/>
                <a:sym typeface="Red Hat Display"/>
              </a:rPr>
              <a:t>SAP HANA Cluster Health Check</a:t>
            </a:r>
            <a:r>
              <a:rPr lang="en">
                <a:latin typeface="Red Hat Display"/>
                <a:ea typeface="Red Hat Display"/>
                <a:cs typeface="Red Hat Display"/>
                <a:sym typeface="Red Hat Display"/>
              </a:rPr>
              <a:t xml:space="preserve"> </a:t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latin typeface="Red Hat Display"/>
                <a:ea typeface="Red Hat Display"/>
                <a:cs typeface="Red Hat Display"/>
                <a:sym typeface="Red Hat Display"/>
              </a:rPr>
              <a:t>Introduction &amp; Training</a:t>
            </a:r>
            <a:endParaRPr b="0" sz="2800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>
            <p:ph type="title"/>
          </p:nvPr>
        </p:nvSpPr>
        <p:spPr>
          <a:xfrm>
            <a:off x="954900" y="1418675"/>
            <a:ext cx="9198000" cy="48945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5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Agenda</a:t>
            </a:r>
            <a:endParaRPr b="1" sz="3500">
              <a:solidFill>
                <a:srgbClr val="EE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rgbClr val="EE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ed Hat Text"/>
              <a:buChar char="●"/>
            </a:pPr>
            <a:r>
              <a:rPr lang="en" sz="22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What Is It? / Architecture Overview</a:t>
            </a:r>
            <a:endParaRPr sz="220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ed Hat Text"/>
              <a:buChar char="●"/>
            </a:pPr>
            <a:r>
              <a:rPr lang="en" sz="22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Installation, Prerequisites &amp; First Run</a:t>
            </a:r>
            <a:endParaRPr sz="220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ed Hat Text"/>
              <a:buChar char="●"/>
            </a:pPr>
            <a:r>
              <a:rPr lang="en" sz="22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Core Use Cases (8 scenarios)</a:t>
            </a:r>
            <a:endParaRPr sz="220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ed Hat Text"/>
              <a:buChar char="●"/>
            </a:pPr>
            <a:r>
              <a:rPr lang="en" sz="22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Understanding Results &amp; Severities</a:t>
            </a:r>
            <a:endParaRPr sz="220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ed Hat Text"/>
              <a:buChar char="●"/>
            </a:pPr>
            <a:r>
              <a:rPr lang="en" sz="22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Health Check Reference (22 checks)</a:t>
            </a:r>
            <a:endParaRPr sz="220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ed Hat Text"/>
              <a:buChar char="●"/>
            </a:pPr>
            <a:r>
              <a:rPr lang="en" sz="22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Practical Examples &amp; Troubleshooting</a:t>
            </a:r>
            <a:endParaRPr sz="220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ed Hat Text"/>
              <a:buChar char="●"/>
            </a:pPr>
            <a:r>
              <a:rPr lang="en" sz="22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Useful Options &amp; Next Steps</a:t>
            </a:r>
            <a:endParaRPr sz="220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1" name="Google Shape;191;p20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 xml:space="preserve">SAP ALLIANCE </a:t>
            </a:r>
            <a:r>
              <a:rPr lang="en"/>
              <a:t>TECHNOLOGY</a:t>
            </a:r>
            <a:r>
              <a:rPr lang="en"/>
              <a:t xml:space="preserve"> TEAM- Markus Moster</a:t>
            </a:r>
            <a:endParaRPr/>
          </a:p>
        </p:txBody>
      </p:sp>
      <p:sp>
        <p:nvSpPr>
          <p:cNvPr id="192" name="Google Shape;192;p2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3"/>
          <p:cNvSpPr txBox="1"/>
          <p:nvPr>
            <p:ph type="title"/>
          </p:nvPr>
        </p:nvSpPr>
        <p:spPr>
          <a:xfrm>
            <a:off x="1695450" y="772275"/>
            <a:ext cx="8686800" cy="96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rPr>
              <a:t>Questions?</a:t>
            </a:r>
            <a:endParaRPr b="1" sz="8000">
              <a:solidFill>
                <a:srgbClr val="EE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0"/>
          </a:p>
        </p:txBody>
      </p:sp>
      <p:sp>
        <p:nvSpPr>
          <p:cNvPr id="402" name="Google Shape;402;p4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03" name="Google Shape;40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3250" y="1978200"/>
            <a:ext cx="4651201" cy="465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9" name="Google Shape;409;p44"/>
          <p:cNvSpPr txBox="1"/>
          <p:nvPr>
            <p:ph type="title"/>
          </p:nvPr>
        </p:nvSpPr>
        <p:spPr>
          <a:xfrm>
            <a:off x="5422400" y="1730676"/>
            <a:ext cx="5736300" cy="19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410" name="Google Shape;410;p44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SAP ALLIANCE TECHNOLOGY TEAM- Markus Moster</a:t>
            </a:r>
            <a:endParaRPr/>
          </a:p>
        </p:txBody>
      </p:sp>
      <p:sp>
        <p:nvSpPr>
          <p:cNvPr id="234" name="Google Shape;234;p2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965275" y="825350"/>
            <a:ext cx="759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SAP HANA Cluster Health Check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 Is It?</a:t>
            </a:r>
          </a:p>
        </p:txBody>
      </p:sp>
      <p:sp>
        <p:nvSpPr>
          <p:cNvPr id="236" name="Google Shape;236;p25"/>
          <p:cNvSpPr txBox="1"/>
          <p:nvPr/>
        </p:nvSpPr>
        <p:spPr>
          <a:xfrm>
            <a:off x="965275" y="2034175"/>
            <a:ext cx="8207400" cy="4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Comprehensive, automated health check tool for SAP HANA Pacemaker clusters on RHEL 8/9/10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b="1" lang="en" sz="1050">
                <a:solidFill>
                  <a:srgbClr val="3C3C3C"/>
                </a:solidFill>
              </a:rPr>
              <a:t>Key Features: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22 automated checks covering cluster config, Pacemaker/Corosync, and SAP-specific validations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Works with live clusters (via SSH), local execution, or offline analysis (via SOSreports)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Auto-discovers all cluster nodes from a single seed node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Auto-generated PDF reports with standard or verbose detail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Multithreaded execution for parallel node checks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Version detection for RHEL and Pacemaker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HANA status detection: SID, instance, sidadm user, running processes</a:t>
            </a:r>
          </a:p>
        </p:txBody>
      </p:sp>
      <p:sp>
        <p:nvSpPr>
          <p:cNvPr id="237" name="Google Shape;237;p25"/>
          <p:cNvSpPr txBox="1"/>
          <p:nvPr/>
        </p:nvSpPr>
        <p:spPr>
          <a:xfrm>
            <a:off x="649850" y="6259125"/>
            <a:ext cx="46038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EBEBEB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SAP ALLIANCE TECHNOLOGY TEAM- Markus Moster</a:t>
            </a:r>
            <a:endParaRPr/>
          </a:p>
        </p:txBody>
      </p:sp>
      <p:sp>
        <p:nvSpPr>
          <p:cNvPr id="234" name="Google Shape;234;p2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965275" y="825350"/>
            <a:ext cx="759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SAP HANA Cluster Health Check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Architecture Overview - 5-Step Pipeline</a:t>
            </a:r>
          </a:p>
        </p:txBody>
      </p:sp>
      <p:sp>
        <p:nvSpPr>
          <p:cNvPr id="236" name="Google Shape;236;p25"/>
          <p:cNvSpPr txBox="1"/>
          <p:nvPr/>
        </p:nvSpPr>
        <p:spPr>
          <a:xfrm>
            <a:off x="965275" y="2034175"/>
            <a:ext cx="8207400" cy="4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Step 1 - Access Discovery: Discovers local, SSH, Ansible, or SOSreport access to cluster nodes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Step 2 - Cluster Configuration: Node status, quorum, clone config, package consistency (9 checks)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Step 3 - Pacemaker/Corosync: STONITH, resources, fencing, master/slave roles (6 checks)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Step 4 - SAP-Specific: HANA SR status, replication mode, HA/DR hooks, systemd (7 checks)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Step 5 - Report Generation: Summary YAML and PDF reports</a:t>
            </a:r>
          </a:p>
        </p:txBody>
      </p:sp>
      <p:sp>
        <p:nvSpPr>
          <p:cNvPr id="237" name="Google Shape;237;p25"/>
          <p:cNvSpPr txBox="1"/>
          <p:nvPr/>
        </p:nvSpPr>
        <p:spPr>
          <a:xfrm>
            <a:off x="649850" y="6259125"/>
            <a:ext cx="46038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EBEBEB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SAP ALLIANCE TECHNOLOGY TEAM- Markus Moster</a:t>
            </a:r>
            <a:endParaRPr/>
          </a:p>
        </p:txBody>
      </p:sp>
      <p:sp>
        <p:nvSpPr>
          <p:cNvPr id="234" name="Google Shape;234;p2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965275" y="825350"/>
            <a:ext cx="759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Getting Started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Installation</a:t>
            </a:r>
          </a:p>
        </p:txBody>
      </p:sp>
      <p:sp>
        <p:nvSpPr>
          <p:cNvPr id="236" name="Google Shape;236;p25"/>
          <p:cNvSpPr txBox="1"/>
          <p:nvPr/>
        </p:nvSpPr>
        <p:spPr>
          <a:xfrm>
            <a:off x="965275" y="2034175"/>
            <a:ext cx="8207400" cy="4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Option 1: Using git (recommended)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git clone https://github.com/mmoster/sap-ha-check.git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cd sap-ha-check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./cluster_health_check.py --local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Option 2: Download without git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curl -L https://github.com/mmoster/sap-ha-check/archive/refs/heads/main.tar.gz | tar xz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cd sap-ha-check-main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b="1" lang="en" sz="1050">
                <a:solidFill>
                  <a:srgbClr val="3C3C3C"/>
                </a:solidFill>
              </a:rPr>
              <a:t>Prerequisites: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Python 3.6+ (included in RHEL 8/9/10)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PyYAML: pip install pyyaml (or dnf install python3-pyyaml)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fpdf2 (optional, for PDF reports): pip install fpdf2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SSH key-based access for remote checks</a:t>
            </a:r>
          </a:p>
        </p:txBody>
      </p:sp>
      <p:sp>
        <p:nvSpPr>
          <p:cNvPr id="237" name="Google Shape;237;p25"/>
          <p:cNvSpPr txBox="1"/>
          <p:nvPr/>
        </p:nvSpPr>
        <p:spPr>
          <a:xfrm>
            <a:off x="649850" y="6259125"/>
            <a:ext cx="46038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EBEBEB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SAP ALLIANCE TECHNOLOGY TEAM- Markus Moster</a:t>
            </a:r>
            <a:endParaRPr/>
          </a:p>
        </p:txBody>
      </p:sp>
      <p:sp>
        <p:nvSpPr>
          <p:cNvPr id="234" name="Google Shape;234;p2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965275" y="825350"/>
            <a:ext cx="759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Getting Started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First Run</a:t>
            </a:r>
          </a:p>
        </p:txBody>
      </p:sp>
      <p:sp>
        <p:nvSpPr>
          <p:cNvPr id="236" name="Google Shape;236;p25"/>
          <p:cNvSpPr txBox="1"/>
          <p:nvPr/>
        </p:nvSpPr>
        <p:spPr>
          <a:xfrm>
            <a:off x="965275" y="2034175"/>
            <a:ext cx="8207400" cy="4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Run locally on a cluster node: ./cluster_health_check.py --local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b="1" lang="en" sz="1050">
                <a:solidFill>
                  <a:srgbClr val="3C3C3C"/>
                </a:solidFill>
              </a:rPr>
              <a:t>What happens on first run: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1. Discovers cluster nodes from Pacemaker configuration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2. Checks connectivity to all discovered nodes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3. Collects configuration data from all nodes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4. Runs all 22 health checks in parallel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5. Generates summary + PDF report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6. Caches topology config for faster subsequent runs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b="1" lang="en" sz="1050">
                <a:solidFill>
                  <a:srgbClr val="3C3C3C"/>
                </a:solidFill>
              </a:rPr>
              <a:t>Example output: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PASSED: 22  FAILED: 0  SKIPPED: 0  ERROR: 0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CLUSTER IS HEALTHY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PDF report saved: health_check_report_mycluster_1507.pdf</a:t>
            </a:r>
          </a:p>
        </p:txBody>
      </p:sp>
      <p:sp>
        <p:nvSpPr>
          <p:cNvPr id="237" name="Google Shape;237;p25"/>
          <p:cNvSpPr txBox="1"/>
          <p:nvPr/>
        </p:nvSpPr>
        <p:spPr>
          <a:xfrm>
            <a:off x="649850" y="6259125"/>
            <a:ext cx="46038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EBEBEB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SAP ALLIANCE TECHNOLOGY TEAM- Markus Moster</a:t>
            </a:r>
            <a:endParaRPr/>
          </a:p>
        </p:txBody>
      </p:sp>
      <p:sp>
        <p:nvSpPr>
          <p:cNvPr id="234" name="Google Shape;234;p2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965275" y="825350"/>
            <a:ext cx="759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Core Use Cases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Use Case 1: Routine Health Check</a:t>
            </a:r>
          </a:p>
        </p:txBody>
      </p:sp>
      <p:sp>
        <p:nvSpPr>
          <p:cNvPr id="236" name="Google Shape;236;p25"/>
          <p:cNvSpPr txBox="1"/>
          <p:nvPr/>
        </p:nvSpPr>
        <p:spPr>
          <a:xfrm>
            <a:off x="965275" y="2034175"/>
            <a:ext cx="8207400" cy="4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Run on a live cluster node for a quick validation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Command: ./cluster_health_check.py --local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b="1" lang="en" sz="1050">
                <a:solidFill>
                  <a:srgbClr val="3C3C3C"/>
                </a:solidFill>
              </a:rPr>
              <a:t>When to use: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Daily or weekly operational health checks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After routine maintenance windows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Quick sanity check before making changes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b="1" lang="en" sz="1050">
                <a:solidFill>
                  <a:srgbClr val="3C3C3C"/>
                </a:solidFill>
              </a:rPr>
              <a:t>What you get: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Pass/fail summary for all 22 checks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CRITICAL / WARNING / INFO severity breakdown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Health status banner (CLUSTER IS HEALTHY / HAS ISSUES)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Auto-saved PDF report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Tip: First run caches cluster topology. Subsequent runs are faster.</a:t>
            </a:r>
          </a:p>
        </p:txBody>
      </p:sp>
      <p:sp>
        <p:nvSpPr>
          <p:cNvPr id="237" name="Google Shape;237;p25"/>
          <p:cNvSpPr txBox="1"/>
          <p:nvPr/>
        </p:nvSpPr>
        <p:spPr>
          <a:xfrm>
            <a:off x="649850" y="6259125"/>
            <a:ext cx="46038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EBEBEB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SAP ALLIANCE TECHNOLOGY TEAM- Markus Moster</a:t>
            </a:r>
            <a:endParaRPr/>
          </a:p>
        </p:txBody>
      </p:sp>
      <p:sp>
        <p:nvSpPr>
          <p:cNvPr id="234" name="Google Shape;234;p2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965275" y="825350"/>
            <a:ext cx="759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Core Use Cases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Use Case 2: Remote Cluster Check</a:t>
            </a:r>
          </a:p>
        </p:txBody>
      </p:sp>
      <p:sp>
        <p:nvSpPr>
          <p:cNvPr id="236" name="Google Shape;236;p25"/>
          <p:cNvSpPr txBox="1"/>
          <p:nvPr/>
        </p:nvSpPr>
        <p:spPr>
          <a:xfrm>
            <a:off x="965275" y="2034175"/>
            <a:ext cx="8207400" cy="4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Check clusters remotely via SSH - auto-discovers all members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b="1" lang="en" sz="1050">
                <a:solidFill>
                  <a:srgbClr val="3C3C3C"/>
                </a:solidFill>
              </a:rPr>
              <a:t>Option A - Specify nodes directly: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./cluster_health_check.py hana01 hana02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b="1" lang="en" sz="1050">
                <a:solidFill>
                  <a:srgbClr val="3C3C3C"/>
                </a:solidFill>
              </a:rPr>
              <a:t>Option B - Use a hosts file: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./cluster_health_check.py -H hosts.txt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b="1" lang="en" sz="1050">
                <a:solidFill>
                  <a:srgbClr val="3C3C3C"/>
                </a:solidFill>
              </a:rPr>
              <a:t>Key behaviors: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Auto-discovers all cluster nodes from any seed node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Only one node needed - others found via Pacemaker config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Uses SSH key-based authentication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Parallel connectivity checks for speed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Multi-cluster: prompts for selection if multiple clusters found</a:t>
            </a:r>
          </a:p>
        </p:txBody>
      </p:sp>
      <p:sp>
        <p:nvSpPr>
          <p:cNvPr id="237" name="Google Shape;237;p25"/>
          <p:cNvSpPr txBox="1"/>
          <p:nvPr/>
        </p:nvSpPr>
        <p:spPr>
          <a:xfrm>
            <a:off x="649850" y="6259125"/>
            <a:ext cx="46038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EBEBEB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SAP ALLIANCE TECHNOLOGY TEAM- Markus Moster</a:t>
            </a:r>
            <a:endParaRPr/>
          </a:p>
        </p:txBody>
      </p:sp>
      <p:sp>
        <p:nvSpPr>
          <p:cNvPr id="234" name="Google Shape;234;p2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965275" y="825350"/>
            <a:ext cx="759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Core Use Cases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Use Case 3: Offline SOSreport Analysis</a:t>
            </a:r>
          </a:p>
        </p:txBody>
      </p:sp>
      <p:sp>
        <p:nvSpPr>
          <p:cNvPr id="236" name="Google Shape;236;p25"/>
          <p:cNvSpPr txBox="1"/>
          <p:nvPr/>
        </p:nvSpPr>
        <p:spPr>
          <a:xfrm>
            <a:off x="965275" y="2034175"/>
            <a:ext cx="8207400" cy="4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Analyze SOSreports without SSH access - ideal for support &amp; post-mortem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Command: ./cluster_health_check.py -s /path/to/sosreports/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b="1" lang="en" sz="1050">
                <a:solidFill>
                  <a:srgbClr val="3C3C3C"/>
                </a:solidFill>
              </a:rPr>
              <a:t>When to use: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Support case analysis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Post-mortem investigations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No SSH access available to the cluster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Historical analysis of saved reports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b="1" lang="en" sz="1050">
                <a:solidFill>
                  <a:srgbClr val="3C3C3C"/>
                </a:solidFill>
              </a:rPr>
              <a:t>Supported formats: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.tar.xz archives (standard SOSreport format)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.tar.gz and .tar archives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Pre-extracted SOSreport directories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Tool auto-extracts archives and maps data to the same checks as live analysis.</a:t>
            </a:r>
          </a:p>
        </p:txBody>
      </p:sp>
      <p:sp>
        <p:nvSpPr>
          <p:cNvPr id="237" name="Google Shape;237;p25"/>
          <p:cNvSpPr txBox="1"/>
          <p:nvPr/>
        </p:nvSpPr>
        <p:spPr>
          <a:xfrm>
            <a:off x="649850" y="6259125"/>
            <a:ext cx="46038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EBEBEB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SAP ALLIANCE TECHNOLOGY TEAM- Markus Moster</a:t>
            </a:r>
            <a:endParaRPr/>
          </a:p>
        </p:txBody>
      </p:sp>
      <p:sp>
        <p:nvSpPr>
          <p:cNvPr id="234" name="Google Shape;234;p2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965275" y="825350"/>
            <a:ext cx="759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Core Use Cases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Use Case 4: SOSreport Collection Workflow</a:t>
            </a:r>
          </a:p>
        </p:txBody>
      </p:sp>
      <p:sp>
        <p:nvSpPr>
          <p:cNvPr id="236" name="Google Shape;236;p25"/>
          <p:cNvSpPr txBox="1"/>
          <p:nvPr/>
        </p:nvSpPr>
        <p:spPr>
          <a:xfrm>
            <a:off x="965275" y="2034175"/>
            <a:ext cx="8207400" cy="4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End-to-end: discover cluster, configure extensions, create &amp; fetch SOSreports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Full workflow: ./cluster_health_check.py -R hana01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Auto-configure: ./cluster_health_check.py -R hana01 --configure-extensions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b="1" lang="en" sz="1050">
                <a:solidFill>
                  <a:srgbClr val="3C3C3C"/>
                </a:solidFill>
              </a:rPr>
              <a:t>Workflow steps: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1. Discovers cluster name and all nodes from the seed node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2. Checks SSH access to all nodes (skips unreachable ones)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3. Checks and optionally configures SAP SOSreport extensions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4. Creates SOSreports in parallel with cluster name as label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5. Fetches SOSreports via SCP to local ./sosreports/ directory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SAP Extensions add: SAPHanaSR-showAttr output, cluster state snapshots, resource configs</a:t>
            </a:r>
          </a:p>
        </p:txBody>
      </p:sp>
      <p:sp>
        <p:nvSpPr>
          <p:cNvPr id="237" name="Google Shape;237;p25"/>
          <p:cNvSpPr txBox="1"/>
          <p:nvPr/>
        </p:nvSpPr>
        <p:spPr>
          <a:xfrm>
            <a:off x="649850" y="6259125"/>
            <a:ext cx="46038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EBEBEB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SAP ALLIANCE TECHNOLOGY TEAM- Markus Moster</a:t>
            </a:r>
            <a:endParaRPr/>
          </a:p>
        </p:txBody>
      </p:sp>
      <p:sp>
        <p:nvSpPr>
          <p:cNvPr id="234" name="Google Shape;234;p2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965275" y="825350"/>
            <a:ext cx="759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Core Use Cases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Use Case 5: Pre-Maintenance Validation</a:t>
            </a:r>
          </a:p>
        </p:txBody>
      </p:sp>
      <p:sp>
        <p:nvSpPr>
          <p:cNvPr id="236" name="Google Shape;236;p25"/>
          <p:cNvSpPr txBox="1"/>
          <p:nvPr/>
        </p:nvSpPr>
        <p:spPr>
          <a:xfrm>
            <a:off x="965275" y="2034175"/>
            <a:ext cx="8207400" cy="4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Run before and after maintenance windows to verify cluster state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b="1" lang="en" sz="1050">
                <a:solidFill>
                  <a:srgbClr val="3C3C3C"/>
                </a:solidFill>
              </a:rPr>
              <a:t>Before Maintenance: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./cluster_health_check.py --local -v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Establishes baseline state with verbose PDF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Save as pre-maintenance reference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Identify any pre-existing issues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b="1" lang="en" sz="1050">
                <a:solidFill>
                  <a:srgbClr val="3C3C3C"/>
                </a:solidFill>
              </a:rPr>
              <a:t>After Maintenance: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./cluster_health_check.py --local -v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Verify cluster recovered correctly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Compare with pre-maintenance report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Detect any regressions introduced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Document maintenance outcome</a:t>
            </a:r>
          </a:p>
        </p:txBody>
      </p:sp>
      <p:sp>
        <p:nvSpPr>
          <p:cNvPr id="237" name="Google Shape;237;p25"/>
          <p:cNvSpPr txBox="1"/>
          <p:nvPr/>
        </p:nvSpPr>
        <p:spPr>
          <a:xfrm>
            <a:off x="649850" y="6259125"/>
            <a:ext cx="46038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EBEBEB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SAP ALLIANCE TECHNOLOGY TEAM- Markus Moster</a:t>
            </a:r>
            <a:endParaRPr/>
          </a:p>
        </p:txBody>
      </p:sp>
      <p:sp>
        <p:nvSpPr>
          <p:cNvPr id="234" name="Google Shape;234;p2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965275" y="825350"/>
            <a:ext cx="759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Core Use Cases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Use Case 6: Audit &amp; Compliance</a:t>
            </a:r>
          </a:p>
        </p:txBody>
      </p:sp>
      <p:sp>
        <p:nvSpPr>
          <p:cNvPr id="236" name="Google Shape;236;p25"/>
          <p:cNvSpPr txBox="1"/>
          <p:nvPr/>
        </p:nvSpPr>
        <p:spPr>
          <a:xfrm>
            <a:off x="965275" y="2034175"/>
            <a:ext cx="8207400" cy="4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Generate detailed PDF reports for compliance documentation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Command: ./cluster_health_check.py --local -v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b="1" lang="en" sz="1050">
                <a:solidFill>
                  <a:srgbClr val="3C3C3C"/>
                </a:solidFill>
              </a:rPr>
              <a:t>Verbose PDF includes: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All 22 checks with full details (not just failures)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Complete cluster topology and configuration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Node status and IP addresses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System replication details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STONITH/fencing configuration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Package versions across all nodes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Use for: internal audits, external auditor documentation, management reporting, change management evidence</a:t>
            </a:r>
          </a:p>
        </p:txBody>
      </p:sp>
      <p:sp>
        <p:nvSpPr>
          <p:cNvPr id="237" name="Google Shape;237;p25"/>
          <p:cNvSpPr txBox="1"/>
          <p:nvPr/>
        </p:nvSpPr>
        <p:spPr>
          <a:xfrm>
            <a:off x="649850" y="6259125"/>
            <a:ext cx="46038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EBEBEB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SAP ALLIANCE TECHNOLOGY TEAM- Markus Moster</a:t>
            </a:r>
            <a:endParaRPr/>
          </a:p>
        </p:txBody>
      </p:sp>
      <p:sp>
        <p:nvSpPr>
          <p:cNvPr id="234" name="Google Shape;234;p2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965275" y="825350"/>
            <a:ext cx="759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Core Use Cases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Use Case 7: Multi-Cluster Management</a:t>
            </a:r>
          </a:p>
        </p:txBody>
      </p:sp>
      <p:sp>
        <p:nvSpPr>
          <p:cNvPr id="236" name="Google Shape;236;p25"/>
          <p:cNvSpPr txBox="1"/>
          <p:nvPr/>
        </p:nvSpPr>
        <p:spPr>
          <a:xfrm>
            <a:off x="965275" y="2034175"/>
            <a:ext cx="8207400" cy="4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Show all discovered clusters: ./cluster_health_check.py -S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Filter by node: ./cluster_health_check.py -S hana01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b="1" lang="en" sz="1050">
                <a:solidFill>
                  <a:srgbClr val="3C3C3C"/>
                </a:solidFill>
              </a:rPr>
              <a:t>Key features: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View all discovered cluster configurations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Filter by cluster name or node hostname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Prompts for selection when multiple clusters are found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Use -D to reset and re-discover all clusters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Use Case 8: Interactive / Exploratory Mode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Command: ./cluster_health_check.py -u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Scans current directory for SOSreport archives, hosts files, previous results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Presents an interactive menu to choose what to analyze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Great for guided setup when unsure where SOSreports are stored</a:t>
            </a:r>
          </a:p>
        </p:txBody>
      </p:sp>
      <p:sp>
        <p:nvSpPr>
          <p:cNvPr id="237" name="Google Shape;237;p25"/>
          <p:cNvSpPr txBox="1"/>
          <p:nvPr/>
        </p:nvSpPr>
        <p:spPr>
          <a:xfrm>
            <a:off x="649850" y="6259125"/>
            <a:ext cx="46038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EBEBEB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SAP ALLIANCE TECHNOLOGY TEAM- Markus Moster</a:t>
            </a:r>
            <a:endParaRPr/>
          </a:p>
        </p:txBody>
      </p:sp>
      <p:sp>
        <p:nvSpPr>
          <p:cNvPr id="234" name="Google Shape;234;p2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965275" y="825350"/>
            <a:ext cx="759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Understanding Results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Reading the Output</a:t>
            </a:r>
          </a:p>
        </p:txBody>
      </p:sp>
      <p:sp>
        <p:nvSpPr>
          <p:cNvPr id="236" name="Google Shape;236;p25"/>
          <p:cNvSpPr txBox="1"/>
          <p:nvPr/>
        </p:nvSpPr>
        <p:spPr>
          <a:xfrm>
            <a:off x="965275" y="2034175"/>
            <a:ext cx="8207400" cy="4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b="1" lang="en" sz="1050">
                <a:solidFill>
                  <a:srgbClr val="3C3C3C"/>
                </a:solidFill>
              </a:rPr>
              <a:t>Healthy cluster output: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PASSED: 22  FAILED: 0  SKIPPED: 0  ERROR: 0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CLUSTER IS HEALTHY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b="1" lang="en" sz="1050">
                <a:solidFill>
                  <a:srgbClr val="3C3C3C"/>
                </a:solidFill>
              </a:rPr>
              <a:t>Issues detected: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PASSED: 20  FAILED: 2  SKIPPED: 0  ERROR: 0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FAILED: CHK_STONITH_CONFIG - STONITH is disabled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b="1" lang="en" sz="1050">
                <a:solidFill>
                  <a:srgbClr val="3C3C3C"/>
                </a:solidFill>
              </a:rPr>
              <a:t>Result statuses: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PASSED - Check completed successfully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FAILED - Issue detected, action needed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SKIPPED - Not applicable to this configuration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ERROR - Check could not complete (missing data or access issue)</a:t>
            </a:r>
          </a:p>
        </p:txBody>
      </p:sp>
      <p:sp>
        <p:nvSpPr>
          <p:cNvPr id="237" name="Google Shape;237;p25"/>
          <p:cNvSpPr txBox="1"/>
          <p:nvPr/>
        </p:nvSpPr>
        <p:spPr>
          <a:xfrm>
            <a:off x="649850" y="6259125"/>
            <a:ext cx="46038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EBEBEB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SAP ALLIANCE TECHNOLOGY TEAM- Markus Moster</a:t>
            </a:r>
            <a:endParaRPr/>
          </a:p>
        </p:txBody>
      </p:sp>
      <p:sp>
        <p:nvSpPr>
          <p:cNvPr id="234" name="Google Shape;234;p2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965275" y="825350"/>
            <a:ext cx="759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Understanding Results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Check Severities</a:t>
            </a:r>
          </a:p>
        </p:txBody>
      </p:sp>
      <p:sp>
        <p:nvSpPr>
          <p:cNvPr id="236" name="Google Shape;236;p25"/>
          <p:cNvSpPr txBox="1"/>
          <p:nvPr/>
        </p:nvSpPr>
        <p:spPr>
          <a:xfrm>
            <a:off x="965275" y="2034175"/>
            <a:ext cx="8207400" cy="4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CRITICAL - Immediate action required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Issues that affect cluster availability or data integrity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Examples: STONITH disabled, node offline, quorum lost, SR status incorrect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WARNING - Should be addressed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Best practice violations or potential issues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Examples: Package mismatch, cluster not fully started, resource failures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INFO - Informational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Context about cluster topology and configuration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Examples: Cluster type detection (Scale-Up/Scale-Out), HANA installation status</a:t>
            </a:r>
          </a:p>
        </p:txBody>
      </p:sp>
      <p:sp>
        <p:nvSpPr>
          <p:cNvPr id="237" name="Google Shape;237;p25"/>
          <p:cNvSpPr txBox="1"/>
          <p:nvPr/>
        </p:nvSpPr>
        <p:spPr>
          <a:xfrm>
            <a:off x="649850" y="6259125"/>
            <a:ext cx="46038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EBEBEB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SAP ALLIANCE TECHNOLOGY TEAM- Markus Moster</a:t>
            </a:r>
            <a:endParaRPr/>
          </a:p>
        </p:txBody>
      </p:sp>
      <p:sp>
        <p:nvSpPr>
          <p:cNvPr id="234" name="Google Shape;234;p2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965275" y="825350"/>
            <a:ext cx="759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Health Check Reference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Cluster Configuration Checks (9)</a:t>
            </a:r>
          </a:p>
        </p:txBody>
      </p:sp>
      <p:sp>
        <p:nvSpPr>
          <p:cNvPr id="236" name="Google Shape;236;p25"/>
          <p:cNvSpPr txBox="1"/>
          <p:nvPr/>
        </p:nvSpPr>
        <p:spPr>
          <a:xfrm>
            <a:off x="965275" y="2034175"/>
            <a:ext cx="8207400" cy="4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CHK_CLUSTER_READY [WARNING] - Check if cluster is fully started (not in transition)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CHK_CLUSTER_TYPE [INFO] - Detect Scale-Up vs Scale-Out configuration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CHK_NODE_STATUS [CRITICAL] - Verify all cluster nodes are online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CHK_CLUSTER_QUORUM [CRITICAL] - Verify cluster has quorum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CHK_QUORUM_CONFIG [CRITICAL] - Validate quorum configuration (Scale-Up only)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CHK_CLONE_CONFIG [CRITICAL] - Validate clone resource configuration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CHK_SETUP_VALIDATION [CRITICAL] - Validate against SAP HANA HA best practices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CHK_CIB_TIME_SYNC [WARNING] - Verify CIB updates are synchronized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CHK_PACKAGE_CONSISTENCY [WARNING] - Verify package versions match across nodes</a:t>
            </a:r>
          </a:p>
        </p:txBody>
      </p:sp>
      <p:sp>
        <p:nvSpPr>
          <p:cNvPr id="237" name="Google Shape;237;p25"/>
          <p:cNvSpPr txBox="1"/>
          <p:nvPr/>
        </p:nvSpPr>
        <p:spPr>
          <a:xfrm>
            <a:off x="649850" y="6259125"/>
            <a:ext cx="46038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EBEBEB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SAP ALLIANCE TECHNOLOGY TEAM- Markus Moster</a:t>
            </a:r>
            <a:endParaRPr/>
          </a:p>
        </p:txBody>
      </p:sp>
      <p:sp>
        <p:nvSpPr>
          <p:cNvPr id="234" name="Google Shape;234;p2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965275" y="825350"/>
            <a:ext cx="759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Health Check Reference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Pacemaker/Corosync (6) &amp; SAP-Specific (7) Checks</a:t>
            </a:r>
          </a:p>
        </p:txBody>
      </p:sp>
      <p:sp>
        <p:nvSpPr>
          <p:cNvPr id="236" name="Google Shape;236;p25"/>
          <p:cNvSpPr txBox="1"/>
          <p:nvPr/>
        </p:nvSpPr>
        <p:spPr>
          <a:xfrm>
            <a:off x="965275" y="2034175"/>
            <a:ext cx="8207400" cy="4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b="1" lang="en" sz="1050">
                <a:solidFill>
                  <a:srgbClr val="3C3C3C"/>
                </a:solidFill>
              </a:rPr>
              <a:t>Pacemaker/Corosync Checks: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CHK_STONITH_CONFIG [CRITICAL] - Verify STONITH/fencing is enabled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CHK_RESOURCE_STATUS [CRITICAL] - Verify SAP HANA resources are running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CHK_RESOURCE_FAILURES [WARNING] - Detect failed resource operations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CHK_ALERT_FENCING [WARNING] - Validate SAPHanaSR-alert-fencing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CHK_MASTER_SLAVE_ROLES [CRITICAL] - Verify master/slave role consistency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CHK_MAJORITY_MAKER [CRITICAL] - Validate majority maker constraints (Scale-Out)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b="1" lang="en" sz="1050">
                <a:solidFill>
                  <a:srgbClr val="3C3C3C"/>
                </a:solidFill>
              </a:rPr>
              <a:t>SAP-Specific Checks: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CHK_HANA_INSTALLED [INFO] - Detect HANA installation, SID, instance, sidadm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CHK_HANA_SR_STATUS [CRITICAL] - Verify HANA System Replication status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CHK_REPLICATION_MODE [WARNING] - Verify replication mode is sync or syncmem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CHK_HADR_HOOKS [CRITICAL] - Validate HA/DR provider hooks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CHK_HANA_AUTOSTART [WARNING] - Validate HANA autostart is disabled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CHK_SYSTEMD_SAP [WARNING] - Validate SAP Host Agent and systemd config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CHK_SITE_ROLES [CRITICAL] - Verify site roles consistency</a:t>
            </a:r>
          </a:p>
        </p:txBody>
      </p:sp>
      <p:sp>
        <p:nvSpPr>
          <p:cNvPr id="237" name="Google Shape;237;p25"/>
          <p:cNvSpPr txBox="1"/>
          <p:nvPr/>
        </p:nvSpPr>
        <p:spPr>
          <a:xfrm>
            <a:off x="649850" y="6259125"/>
            <a:ext cx="46038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EBEBEB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SAP ALLIANCE TECHNOLOGY TEAM- Markus Moster</a:t>
            </a:r>
            <a:endParaRPr/>
          </a:p>
        </p:txBody>
      </p:sp>
      <p:sp>
        <p:nvSpPr>
          <p:cNvPr id="234" name="Google Shape;234;p2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965275" y="825350"/>
            <a:ext cx="759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Understanding Results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PDF Reports</a:t>
            </a:r>
          </a:p>
        </p:txBody>
      </p:sp>
      <p:sp>
        <p:nvSpPr>
          <p:cNvPr id="236" name="Google Shape;236;p25"/>
          <p:cNvSpPr txBox="1"/>
          <p:nvPr/>
        </p:nvSpPr>
        <p:spPr>
          <a:xfrm>
            <a:off x="965275" y="2034175"/>
            <a:ext cx="8207400" cy="4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Standard Report: ./cluster_health_check.py --local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Shows failed checks with details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Summary pass/fail counts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Compact and focused on issues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Verbose Report: ./cluster_health_check.py --local -v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Shows ALL checks with full details (not just failures)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Includes complete cluster configuration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Ideal for audits, compliance, and documentation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b="1" lang="en" sz="1050">
                <a:solidFill>
                  <a:srgbClr val="3C3C3C"/>
                </a:solidFill>
              </a:rPr>
              <a:t>What's included in every PDF: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Cluster name and timestamp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Node list with status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Check results table with pass/fail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Health status banner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RHEL and Pacemaker version information</a:t>
            </a:r>
          </a:p>
        </p:txBody>
      </p:sp>
      <p:sp>
        <p:nvSpPr>
          <p:cNvPr id="237" name="Google Shape;237;p25"/>
          <p:cNvSpPr txBox="1"/>
          <p:nvPr/>
        </p:nvSpPr>
        <p:spPr>
          <a:xfrm>
            <a:off x="649850" y="6259125"/>
            <a:ext cx="46038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EBEBEB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SAP ALLIANCE TECHNOLOGY TEAM- Markus Moster</a:t>
            </a:r>
            <a:endParaRPr/>
          </a:p>
        </p:txBody>
      </p:sp>
      <p:sp>
        <p:nvSpPr>
          <p:cNvPr id="234" name="Google Shape;234;p2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965275" y="825350"/>
            <a:ext cx="759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Practical Examples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Example: Healthy Cluster Output</a:t>
            </a:r>
          </a:p>
        </p:txBody>
      </p:sp>
      <p:sp>
        <p:nvSpPr>
          <p:cNvPr id="236" name="Google Shape;236;p25"/>
          <p:cNvSpPr txBox="1"/>
          <p:nvPr/>
        </p:nvSpPr>
        <p:spPr>
          <a:xfrm>
            <a:off x="965275" y="2034175"/>
            <a:ext cx="8207400" cy="4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Command: ./cluster_health_check.py --local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b="1" lang="en" sz="1050">
                <a:solidFill>
                  <a:srgbClr val="3C3C3C"/>
                </a:solidFill>
              </a:rPr>
              <a:t>Output: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Discovering cluster from local node...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Found cluster: production_hana (hana01, hana02)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RHEL 9.4 | Pacemaker 2.1.7 | ANGI (sap-hana-ha)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Step 2: Cluster Configuration Check    [9/9 passed]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Step 3: Pacemaker/Corosync Check       [6/6 passed]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Step 4: SAP-Specific Checks            [7/7 passed]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b="1" lang="en" sz="1050">
                <a:solidFill>
                  <a:srgbClr val="3C3C3C"/>
                </a:solidFill>
              </a:rPr>
              <a:t>Result: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PASSED: 22  FAILED: 0  SKIPPED: 0  ERROR: 0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CLUSTER IS HEALTHY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PDF report saved: health_check_report_production_hana_1507.pdf</a:t>
            </a:r>
          </a:p>
        </p:txBody>
      </p:sp>
      <p:sp>
        <p:nvSpPr>
          <p:cNvPr id="237" name="Google Shape;237;p25"/>
          <p:cNvSpPr txBox="1"/>
          <p:nvPr/>
        </p:nvSpPr>
        <p:spPr>
          <a:xfrm>
            <a:off x="649850" y="6259125"/>
            <a:ext cx="46038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EBEBEB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SAP ALLIANCE TECHNOLOGY TEAM- Markus Moster</a:t>
            </a:r>
            <a:endParaRPr/>
          </a:p>
        </p:txBody>
      </p:sp>
      <p:sp>
        <p:nvSpPr>
          <p:cNvPr id="234" name="Google Shape;234;p2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965275" y="825350"/>
            <a:ext cx="759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Practical Examples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Example: Failed Check (STONITH Disabled)</a:t>
            </a:r>
          </a:p>
        </p:txBody>
      </p:sp>
      <p:sp>
        <p:nvSpPr>
          <p:cNvPr id="236" name="Google Shape;236;p25"/>
          <p:cNvSpPr txBox="1"/>
          <p:nvPr/>
        </p:nvSpPr>
        <p:spPr>
          <a:xfrm>
            <a:off x="965275" y="2034175"/>
            <a:ext cx="8207400" cy="4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b="1" lang="en" sz="1050">
                <a:solidFill>
                  <a:srgbClr val="3C3C3C"/>
                </a:solidFill>
              </a:rPr>
              <a:t>Output when issues are detected: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PASSED: 20  FAILED: 2  SKIPPED: 0  ERROR: 0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FAILED: CHK_STONITH_CONFIG [CRITICAL] - STONITH is disabled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FAILED: CHK_RESOURCE_FAILURES [WARNING] - 2 failed resource actions on hana01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CLUSTER HAS ISSUES - REVIEW FAILED CHECKS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b="1" lang="en" sz="1050">
                <a:solidFill>
                  <a:srgbClr val="3C3C3C"/>
                </a:solidFill>
              </a:rPr>
              <a:t>Fix STONITH: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1. Enable STONITH in cluster properties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2. Configure fencing device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3. Test with: pcs stonith fence &lt;node&gt;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b="1" lang="en" sz="1050">
                <a:solidFill>
                  <a:srgbClr val="3C3C3C"/>
                </a:solidFill>
              </a:rPr>
              <a:t>Fix Resource Failures: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1. Check pcs status for details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2. Review /var/log/pacemaker.log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3. Clear failures: pcs resource cleanup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Re-run health check to verify fixes.</a:t>
            </a:r>
          </a:p>
        </p:txBody>
      </p:sp>
      <p:sp>
        <p:nvSpPr>
          <p:cNvPr id="237" name="Google Shape;237;p25"/>
          <p:cNvSpPr txBox="1"/>
          <p:nvPr/>
        </p:nvSpPr>
        <p:spPr>
          <a:xfrm>
            <a:off x="649850" y="6259125"/>
            <a:ext cx="46038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EBEBEB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SAP ALLIANCE TECHNOLOGY TEAM- Markus Moster</a:t>
            </a:r>
            <a:endParaRPr/>
          </a:p>
        </p:txBody>
      </p:sp>
      <p:sp>
        <p:nvSpPr>
          <p:cNvPr id="234" name="Google Shape;234;p2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965275" y="825350"/>
            <a:ext cx="759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Practical Examples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Example: Scale-Out Cluster &amp; Cluster Not Running</a:t>
            </a:r>
          </a:p>
        </p:txBody>
      </p:sp>
      <p:sp>
        <p:nvSpPr>
          <p:cNvPr id="236" name="Google Shape;236;p25"/>
          <p:cNvSpPr txBox="1"/>
          <p:nvPr/>
        </p:nvSpPr>
        <p:spPr>
          <a:xfrm>
            <a:off x="965275" y="2034175"/>
            <a:ext cx="8207400" cy="4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b="1" lang="en" sz="1050">
                <a:solidFill>
                  <a:srgbClr val="3C3C3C"/>
                </a:solidFill>
              </a:rPr>
              <a:t>Scale-Out Clusters: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4+ HANA nodes + 1 majority maker node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Uses SAPHanaController resource agent (vs SAPHana for Scale-Up)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CHK_MAJORITY_MAKER runs only on Scale-Out topology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CHK_QUORUM_CONFIG runs only on Scale-Up topology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Topology detected automatically via resource agent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b="1" lang="en" sz="1050">
                <a:solidFill>
                  <a:srgbClr val="3C3C3C"/>
                </a:solidFill>
              </a:rPr>
              <a:t>Cluster Not Running: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Tool detects Pacemaker/Corosync is not running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Falls back to corosync.conf for node discovery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Checks requiring a running cluster are SKIPPED (not FAILED)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Still runs all checks that work with static configuration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Useful during planned downtime or startup troubleshooting</a:t>
            </a:r>
          </a:p>
        </p:txBody>
      </p:sp>
      <p:sp>
        <p:nvSpPr>
          <p:cNvPr id="237" name="Google Shape;237;p25"/>
          <p:cNvSpPr txBox="1"/>
          <p:nvPr/>
        </p:nvSpPr>
        <p:spPr>
          <a:xfrm>
            <a:off x="649850" y="6259125"/>
            <a:ext cx="46038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EBEBEB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SAP ALLIANCE TECHNOLOGY TEAM- Markus Moster</a:t>
            </a:r>
            <a:endParaRPr/>
          </a:p>
        </p:txBody>
      </p:sp>
      <p:sp>
        <p:nvSpPr>
          <p:cNvPr id="234" name="Google Shape;234;p2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965275" y="825350"/>
            <a:ext cx="759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Tips &amp; Advanced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Useful Options Quick Reference</a:t>
            </a:r>
          </a:p>
        </p:txBody>
      </p:sp>
      <p:sp>
        <p:nvSpPr>
          <p:cNvPr id="236" name="Google Shape;236;p25"/>
          <p:cNvSpPr txBox="1"/>
          <p:nvPr/>
        </p:nvSpPr>
        <p:spPr>
          <a:xfrm>
            <a:off x="965275" y="2034175"/>
            <a:ext cx="8207400" cy="4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--local : Run on current cluster node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-s DIR : Analyze SOSreports in directory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-H FILE : Read hosts from file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-u : Interactive mode - scan for resources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-v : Verbose PDF (all checks, full detail)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-d : Debug mode (verbose console output)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-L : List all available health checks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-S [NAME] : Show discovered cluster config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-D : Delete cached config, start fresh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-f : Force rediscovery (ignore cache)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-R NODE : Full SOSreport collection workflow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-F [CLUSTER] : Fetch existing SOSreports from nodes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--no-pdf : Skip PDF report generation</a:t>
            </a:r>
          </a:p>
        </p:txBody>
      </p:sp>
      <p:sp>
        <p:nvSpPr>
          <p:cNvPr id="237" name="Google Shape;237;p25"/>
          <p:cNvSpPr txBox="1"/>
          <p:nvPr/>
        </p:nvSpPr>
        <p:spPr>
          <a:xfrm>
            <a:off x="649850" y="6259125"/>
            <a:ext cx="46038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EBEBEB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SAP ALLIANCE TECHNOLOGY TEAM- Markus Moster</a:t>
            </a:r>
            <a:endParaRPr/>
          </a:p>
        </p:txBody>
      </p:sp>
      <p:sp>
        <p:nvSpPr>
          <p:cNvPr id="234" name="Google Shape;234;p2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965275" y="825350"/>
            <a:ext cx="759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Tips &amp; Advanced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Troubleshooting</a:t>
            </a:r>
          </a:p>
        </p:txBody>
      </p:sp>
      <p:sp>
        <p:nvSpPr>
          <p:cNvPr id="236" name="Google Shape;236;p25"/>
          <p:cNvSpPr txBox="1"/>
          <p:nvPr/>
        </p:nvSpPr>
        <p:spPr>
          <a:xfrm>
            <a:off x="965275" y="2034175"/>
            <a:ext cx="8207400" cy="4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b="1" lang="en" sz="1050">
                <a:solidFill>
                  <a:srgbClr val="3C3C3C"/>
                </a:solidFill>
              </a:rPr>
              <a:t>SSH connection fails: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Verify key-based SSH access: ssh -o BatchMode=yes &lt;node&gt; hostname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b="1" lang="en" sz="1050">
                <a:solidFill>
                  <a:srgbClr val="3C3C3C"/>
                </a:solidFill>
              </a:rPr>
              <a:t>PyYAML not found: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Install: pip install pyyaml  or  dnf install python3-pyyaml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b="1" lang="en" sz="1050">
                <a:solidFill>
                  <a:srgbClr val="3C3C3C"/>
                </a:solidFill>
              </a:rPr>
              <a:t>No PDF generated: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Install fpdf2: pip install fpdf2 (optional dependency)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b="1" lang="en" sz="1050">
                <a:solidFill>
                  <a:srgbClr val="3C3C3C"/>
                </a:solidFill>
              </a:rPr>
              <a:t>Cluster not detected: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Pacemaker may not be running. Tool falls back to corosync.conf automatically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b="1" lang="en" sz="1050">
                <a:solidFill>
                  <a:srgbClr val="3C3C3C"/>
                </a:solidFill>
              </a:rPr>
              <a:t>Stale cached config: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Use -D to delete cache and -f to force rediscovery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b="1" lang="en" sz="1050">
                <a:solidFill>
                  <a:srgbClr val="3C3C3C"/>
                </a:solidFill>
              </a:rPr>
              <a:t>Wrong cluster selected: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Use --cluster NAME or -D to reset, then re-run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lang="en" sz="1050">
                <a:solidFill>
                  <a:srgbClr val="3C3C3C"/>
                </a:solidFill>
              </a:rPr>
              <a:t>Tip: Use -d (debug mode) for verbose console output to diagnose issues.</a:t>
            </a:r>
          </a:p>
        </p:txBody>
      </p:sp>
      <p:sp>
        <p:nvSpPr>
          <p:cNvPr id="237" name="Google Shape;237;p25"/>
          <p:cNvSpPr txBox="1"/>
          <p:nvPr/>
        </p:nvSpPr>
        <p:spPr>
          <a:xfrm>
            <a:off x="649850" y="6259125"/>
            <a:ext cx="46038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EBEBEB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SAP ALLIANCE TECHNOLOGY TEAM- Markus Moster</a:t>
            </a:r>
            <a:endParaRPr/>
          </a:p>
        </p:txBody>
      </p:sp>
      <p:sp>
        <p:nvSpPr>
          <p:cNvPr id="234" name="Google Shape;234;p2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965275" y="825350"/>
            <a:ext cx="759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Next Steps &amp; Resources</a:t>
            </a:r>
          </a:p>
        </p:txBody>
      </p:sp>
      <p:sp>
        <p:nvSpPr>
          <p:cNvPr id="236" name="Google Shape;236;p25"/>
          <p:cNvSpPr txBox="1"/>
          <p:nvPr/>
        </p:nvSpPr>
        <p:spPr>
          <a:xfrm>
            <a:off x="965275" y="2034175"/>
            <a:ext cx="8207400" cy="4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b="1" lang="en" sz="1050">
                <a:solidFill>
                  <a:srgbClr val="3C3C3C"/>
                </a:solidFill>
              </a:rPr>
              <a:t>Full Documentation: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README.md - Complete reference guide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github.com/mmoster/sap-ha-check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b="1" lang="en" sz="1050">
                <a:solidFill>
                  <a:srgbClr val="3C3C3C"/>
                </a:solidFill>
              </a:rPr>
              <a:t>Extend the Tool: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EXTENDING_HEALTH_CHECKS.md - Create custom health check rules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check_dispatch.yaml - Topology-aware check dispatch manifest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b="1" lang="en" sz="1050">
                <a:solidFill>
                  <a:srgbClr val="3C3C3C"/>
                </a:solidFill>
              </a:rPr>
              <a:t>Quick Start Guide: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BLOG_HOWTO.md - Step-by-step examples and walkthroughs</a:t>
            </a: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●"/>
            </a:pPr>
            <a:r>
              <a:rPr b="1" lang="en" sz="1050">
                <a:solidFill>
                  <a:srgbClr val="3C3C3C"/>
                </a:solidFill>
              </a:rPr>
              <a:t>Get started now: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git clone https://github.com/mmoster/sap-ha-check.git</a:t>
            </a:r>
          </a:p>
          <a:p>
            <a:pPr indent="-29527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50"/>
              <a:buChar char="○"/>
            </a:pPr>
            <a:r>
              <a:rPr lang="en" sz="1050">
                <a:solidFill>
                  <a:srgbClr val="3C3C3C"/>
                </a:solidFill>
              </a:rPr>
              <a:t>cd sap-ha-check &amp;&amp; ./cluster_health_check.py --local</a:t>
            </a:r>
          </a:p>
        </p:txBody>
      </p:sp>
      <p:sp>
        <p:nvSpPr>
          <p:cNvPr id="237" name="Google Shape;237;p25"/>
          <p:cNvSpPr txBox="1"/>
          <p:nvPr/>
        </p:nvSpPr>
        <p:spPr>
          <a:xfrm>
            <a:off x="649850" y="6259125"/>
            <a:ext cx="46038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EBEBEB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d Hat widescreen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